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sldIdLst>
    <p:sldId id="256" r:id="rId5"/>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1808">
          <p15:clr>
            <a:srgbClr val="A4A3A4"/>
          </p15:clr>
        </p15:guide>
        <p15:guide id="3"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g7s5XKhrt/lOflA2EynBmSqco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37F1C-5B01-65D0-EC7D-852F6001B861}" v="21" dt="2025-04-10T21:28:25.656"/>
    <p1510:client id="{A0BC2F2E-8F15-3ED1-2803-EA1B8FFCC98D}" v="84" dt="2025-04-10T22:29:11.875"/>
    <p1510:client id="{D570A868-C1C9-41C4-CC49-61C0CB0B72C2}" v="9" dt="2025-04-08T23:14:02.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11808"/>
        <p:guide pos="1382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Dev" userId="S::devrpatel04@tamu.edu::bd3b14a9-3bf5-4245-b80f-d09301a6adfd" providerId="AD" clId="Web-{A0BC2F2E-8F15-3ED1-2803-EA1B8FFCC98D}"/>
    <pc:docChg chg="modSld">
      <pc:chgData name="Patel, Dev" userId="S::devrpatel04@tamu.edu::bd3b14a9-3bf5-4245-b80f-d09301a6adfd" providerId="AD" clId="Web-{A0BC2F2E-8F15-3ED1-2803-EA1B8FFCC98D}" dt="2025-04-10T22:29:09.203" v="42" actId="20577"/>
      <pc:docMkLst>
        <pc:docMk/>
      </pc:docMkLst>
      <pc:sldChg chg="modSp">
        <pc:chgData name="Patel, Dev" userId="S::devrpatel04@tamu.edu::bd3b14a9-3bf5-4245-b80f-d09301a6adfd" providerId="AD" clId="Web-{A0BC2F2E-8F15-3ED1-2803-EA1B8FFCC98D}" dt="2025-04-10T22:29:09.203" v="42" actId="20577"/>
        <pc:sldMkLst>
          <pc:docMk/>
          <pc:sldMk cId="0" sldId="256"/>
        </pc:sldMkLst>
        <pc:spChg chg="mod">
          <ac:chgData name="Patel, Dev" userId="S::devrpatel04@tamu.edu::bd3b14a9-3bf5-4245-b80f-d09301a6adfd" providerId="AD" clId="Web-{A0BC2F2E-8F15-3ED1-2803-EA1B8FFCC98D}" dt="2025-04-10T22:29:09.203" v="42" actId="20577"/>
          <ac:spMkLst>
            <pc:docMk/>
            <pc:sldMk cId="0" sldId="256"/>
            <ac:spMk id="50" creationId="{00000000-0000-0000-0000-000000000000}"/>
          </ac:spMkLst>
        </pc:spChg>
      </pc:sldChg>
    </pc:docChg>
  </pc:docChgLst>
  <pc:docChgLst>
    <pc:chgData name="Ortiz, Ethan M" userId="S::ethanortiz@tamu.edu::7f0decc6-0281-4b03-b142-1c3a7dd7b2a4" providerId="AD" clId="Web-{26537F1C-5B01-65D0-EC7D-852F6001B861}"/>
    <pc:docChg chg="modSld">
      <pc:chgData name="Ortiz, Ethan M" userId="S::ethanortiz@tamu.edu::7f0decc6-0281-4b03-b142-1c3a7dd7b2a4" providerId="AD" clId="Web-{26537F1C-5B01-65D0-EC7D-852F6001B861}" dt="2025-04-10T21:28:25.656" v="15"/>
      <pc:docMkLst>
        <pc:docMk/>
      </pc:docMkLst>
      <pc:sldChg chg="delSp modSp">
        <pc:chgData name="Ortiz, Ethan M" userId="S::ethanortiz@tamu.edu::7f0decc6-0281-4b03-b142-1c3a7dd7b2a4" providerId="AD" clId="Web-{26537F1C-5B01-65D0-EC7D-852F6001B861}" dt="2025-04-10T21:28:25.656" v="15"/>
        <pc:sldMkLst>
          <pc:docMk/>
          <pc:sldMk cId="0" sldId="256"/>
        </pc:sldMkLst>
        <pc:spChg chg="mod">
          <ac:chgData name="Ortiz, Ethan M" userId="S::ethanortiz@tamu.edu::7f0decc6-0281-4b03-b142-1c3a7dd7b2a4" providerId="AD" clId="Web-{26537F1C-5B01-65D0-EC7D-852F6001B861}" dt="2025-04-10T21:28:20.906" v="13" actId="20577"/>
          <ac:spMkLst>
            <pc:docMk/>
            <pc:sldMk cId="0" sldId="256"/>
            <ac:spMk id="33" creationId="{00000000-0000-0000-0000-000000000000}"/>
          </ac:spMkLst>
        </pc:spChg>
        <pc:spChg chg="mod">
          <ac:chgData name="Ortiz, Ethan M" userId="S::ethanortiz@tamu.edu::7f0decc6-0281-4b03-b142-1c3a7dd7b2a4" providerId="AD" clId="Web-{26537F1C-5B01-65D0-EC7D-852F6001B861}" dt="2025-04-10T21:27:39.859" v="1" actId="20577"/>
          <ac:spMkLst>
            <pc:docMk/>
            <pc:sldMk cId="0" sldId="256"/>
            <ac:spMk id="50" creationId="{00000000-0000-0000-0000-000000000000}"/>
          </ac:spMkLst>
        </pc:spChg>
        <pc:spChg chg="del mod">
          <ac:chgData name="Ortiz, Ethan M" userId="S::ethanortiz@tamu.edu::7f0decc6-0281-4b03-b142-1c3a7dd7b2a4" providerId="AD" clId="Web-{26537F1C-5B01-65D0-EC7D-852F6001B861}" dt="2025-04-10T21:28:25.656" v="15"/>
          <ac:spMkLst>
            <pc:docMk/>
            <pc:sldMk cId="0" sldId="256"/>
            <ac:spMk id="5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 name="Google Shape;3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ckground Image">
  <p:cSld name="Background Image">
    <p:spTree>
      <p:nvGrpSpPr>
        <p:cNvPr id="1" name="Shape 15"/>
        <p:cNvGrpSpPr/>
        <p:nvPr/>
      </p:nvGrpSpPr>
      <p:grpSpPr>
        <a:xfrm>
          <a:off x="0" y="0"/>
          <a:ext cx="0" cy="0"/>
          <a:chOff x="0" y="0"/>
          <a:chExt cx="0" cy="0"/>
        </a:xfrm>
      </p:grpSpPr>
      <p:cxnSp>
        <p:nvCxnSpPr>
          <p:cNvPr id="16" name="Google Shape;16;p3"/>
          <p:cNvCxnSpPr/>
          <p:nvPr/>
        </p:nvCxnSpPr>
        <p:spPr>
          <a:xfrm>
            <a:off x="11169060" y="6431836"/>
            <a:ext cx="0" cy="24886364"/>
          </a:xfrm>
          <a:prstGeom prst="straightConnector1">
            <a:avLst/>
          </a:prstGeom>
          <a:noFill/>
          <a:ln w="76200" cap="flat" cmpd="tri">
            <a:solidFill>
              <a:schemeClr val="dk1"/>
            </a:solidFill>
            <a:prstDash val="solid"/>
            <a:round/>
            <a:headEnd type="oval" w="med" len="med"/>
            <a:tailEnd type="oval" w="med" len="med"/>
          </a:ln>
        </p:spPr>
      </p:cxnSp>
      <p:cxnSp>
        <p:nvCxnSpPr>
          <p:cNvPr id="17" name="Google Shape;17;p3"/>
          <p:cNvCxnSpPr/>
          <p:nvPr/>
        </p:nvCxnSpPr>
        <p:spPr>
          <a:xfrm>
            <a:off x="11307763" y="7009765"/>
            <a:ext cx="914400" cy="914400"/>
          </a:xfrm>
          <a:prstGeom prst="straightConnector1">
            <a:avLst/>
          </a:prstGeom>
          <a:noFill/>
          <a:ln>
            <a:noFill/>
          </a:ln>
        </p:spPr>
      </p:cxnSp>
      <p:cxnSp>
        <p:nvCxnSpPr>
          <p:cNvPr id="18" name="Google Shape;18;p3"/>
          <p:cNvCxnSpPr/>
          <p:nvPr/>
        </p:nvCxnSpPr>
        <p:spPr>
          <a:xfrm>
            <a:off x="21945600" y="6431836"/>
            <a:ext cx="0" cy="24886364"/>
          </a:xfrm>
          <a:prstGeom prst="straightConnector1">
            <a:avLst/>
          </a:prstGeom>
          <a:noFill/>
          <a:ln w="76200" cap="flat" cmpd="tri">
            <a:solidFill>
              <a:schemeClr val="dk1"/>
            </a:solidFill>
            <a:prstDash val="solid"/>
            <a:round/>
            <a:headEnd type="oval" w="med" len="med"/>
            <a:tailEnd type="oval" w="med" len="med"/>
          </a:ln>
        </p:spPr>
      </p:cxnSp>
      <p:cxnSp>
        <p:nvCxnSpPr>
          <p:cNvPr id="19" name="Google Shape;19;p3"/>
          <p:cNvCxnSpPr/>
          <p:nvPr/>
        </p:nvCxnSpPr>
        <p:spPr>
          <a:xfrm>
            <a:off x="32577212" y="6431836"/>
            <a:ext cx="0" cy="24886364"/>
          </a:xfrm>
          <a:prstGeom prst="straightConnector1">
            <a:avLst/>
          </a:prstGeom>
          <a:noFill/>
          <a:ln w="88900" cap="flat" cmpd="tri">
            <a:solidFill>
              <a:schemeClr val="dk1"/>
            </a:solidFill>
            <a:prstDash val="solid"/>
            <a:round/>
            <a:headEnd type="oval" w="med" len="med"/>
            <a:tailEnd type="oval" w="med" len="med"/>
          </a:ln>
        </p:spPr>
      </p:cxnSp>
      <p:sp>
        <p:nvSpPr>
          <p:cNvPr id="20" name="Google Shape;20;p3"/>
          <p:cNvSpPr txBox="1">
            <a:spLocks noGrp="1"/>
          </p:cNvSpPr>
          <p:nvPr>
            <p:ph type="body" idx="1"/>
          </p:nvPr>
        </p:nvSpPr>
        <p:spPr>
          <a:xfrm>
            <a:off x="914400" y="6644640"/>
            <a:ext cx="9798050" cy="14874240"/>
          </a:xfrm>
          <a:prstGeom prst="rect">
            <a:avLst/>
          </a:prstGeom>
          <a:noFill/>
          <a:ln>
            <a:noFill/>
          </a:ln>
        </p:spPr>
        <p:txBody>
          <a:bodyPr spcFirstLastPara="1" wrap="square" lIns="91425" tIns="45700" rIns="91425" bIns="45700" anchor="t" anchorCtr="0">
            <a:noAutofit/>
          </a:bodyPr>
          <a:lstStyle>
            <a:lvl1pPr marL="457200" marR="0" lvl="0"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1pPr>
            <a:lvl2pPr marL="914400" marR="0" lvl="1"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2pPr>
            <a:lvl3pPr marL="1371600" marR="0" lvl="2"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3pPr>
            <a:lvl4pPr marL="1828800" marR="0" lvl="3"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4pPr>
            <a:lvl5pPr marL="2286000" marR="0" lvl="4" indent="-380492" algn="l" rtl="0">
              <a:lnSpc>
                <a:spcPct val="164255"/>
              </a:lnSpc>
              <a:spcBef>
                <a:spcPts val="0"/>
              </a:spcBef>
              <a:spcAft>
                <a:spcPts val="0"/>
              </a:spcAft>
              <a:buClr>
                <a:srgbClr val="245EAC"/>
              </a:buClr>
              <a:buSzPts val="2392"/>
              <a:buFont typeface="Arial"/>
              <a:buChar char="•"/>
              <a:defRPr sz="2392" b="0" i="0" u="none" strike="noStrike" cap="none">
                <a:solidFill>
                  <a:srgbClr val="7F7F7F"/>
                </a:solidFill>
                <a:latin typeface="Arial"/>
                <a:ea typeface="Arial"/>
                <a:cs typeface="Arial"/>
                <a:sym typeface="Arial"/>
              </a:defRPr>
            </a:lvl5pPr>
            <a:lvl6pPr marL="2743200" marR="0" lvl="5"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L="3200400" marR="0" lvl="6"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L="3657600" marR="0" lvl="7"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L="4114800" marR="0" lvl="8"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
        <p:nvSpPr>
          <p:cNvPr id="21" name="Google Shape;21;p3"/>
          <p:cNvSpPr>
            <a:spLocks noGrp="1"/>
          </p:cNvSpPr>
          <p:nvPr>
            <p:ph type="pic" idx="2"/>
          </p:nvPr>
        </p:nvSpPr>
        <p:spPr>
          <a:xfrm>
            <a:off x="914400" y="21843852"/>
            <a:ext cx="9798050" cy="7452360"/>
          </a:xfrm>
          <a:prstGeom prst="rect">
            <a:avLst/>
          </a:prstGeom>
          <a:solidFill>
            <a:srgbClr val="D8D8D8"/>
          </a:solidFill>
          <a:ln>
            <a:noFill/>
          </a:ln>
        </p:spPr>
      </p:sp>
      <p:sp>
        <p:nvSpPr>
          <p:cNvPr id="22" name="Google Shape;22;p3"/>
          <p:cNvSpPr>
            <a:spLocks noGrp="1"/>
          </p:cNvSpPr>
          <p:nvPr>
            <p:ph type="pic" idx="3"/>
          </p:nvPr>
        </p:nvSpPr>
        <p:spPr>
          <a:xfrm>
            <a:off x="33046966" y="17186910"/>
            <a:ext cx="9798050" cy="7452360"/>
          </a:xfrm>
          <a:prstGeom prst="rect">
            <a:avLst/>
          </a:prstGeom>
          <a:solidFill>
            <a:srgbClr val="D8D8D8"/>
          </a:solidFill>
          <a:ln>
            <a:noFill/>
          </a:ln>
        </p:spPr>
      </p:sp>
      <p:sp>
        <p:nvSpPr>
          <p:cNvPr id="23" name="Google Shape;23;p3"/>
          <p:cNvSpPr txBox="1">
            <a:spLocks noGrp="1"/>
          </p:cNvSpPr>
          <p:nvPr>
            <p:ph type="body" idx="4"/>
          </p:nvPr>
        </p:nvSpPr>
        <p:spPr>
          <a:xfrm>
            <a:off x="11674474" y="6644640"/>
            <a:ext cx="9798050" cy="22920960"/>
          </a:xfrm>
          <a:prstGeom prst="rect">
            <a:avLst/>
          </a:prstGeom>
          <a:noFill/>
          <a:ln>
            <a:noFill/>
          </a:ln>
        </p:spPr>
        <p:txBody>
          <a:bodyPr spcFirstLastPara="1" wrap="square" lIns="91425" tIns="45700" rIns="91425" bIns="45700" anchor="t" anchorCtr="0">
            <a:noAutofit/>
          </a:bodyPr>
          <a:lstStyle>
            <a:lvl1pPr marL="457200" marR="0" lvl="0"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1pPr>
            <a:lvl2pPr marL="914400" marR="0" lvl="1"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2pPr>
            <a:lvl3pPr marL="1371600" marR="0" lvl="2"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3pPr>
            <a:lvl4pPr marL="1828800" marR="0" lvl="3"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4pPr>
            <a:lvl5pPr marL="2286000" marR="0" lvl="4" indent="-380492" algn="l" rtl="0">
              <a:lnSpc>
                <a:spcPct val="164255"/>
              </a:lnSpc>
              <a:spcBef>
                <a:spcPts val="0"/>
              </a:spcBef>
              <a:spcAft>
                <a:spcPts val="0"/>
              </a:spcAft>
              <a:buClr>
                <a:srgbClr val="245EAC"/>
              </a:buClr>
              <a:buSzPts val="2392"/>
              <a:buFont typeface="Arial"/>
              <a:buChar char="•"/>
              <a:defRPr sz="2392" b="0" i="0" u="none" strike="noStrike" cap="none">
                <a:solidFill>
                  <a:srgbClr val="7F7F7F"/>
                </a:solidFill>
                <a:latin typeface="Arial"/>
                <a:ea typeface="Arial"/>
                <a:cs typeface="Arial"/>
                <a:sym typeface="Arial"/>
              </a:defRPr>
            </a:lvl5pPr>
            <a:lvl6pPr marL="2743200" marR="0" lvl="5"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L="3200400" marR="0" lvl="6"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L="3657600" marR="0" lvl="7"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L="4114800" marR="0" lvl="8"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body" idx="5"/>
          </p:nvPr>
        </p:nvSpPr>
        <p:spPr>
          <a:xfrm>
            <a:off x="22516542" y="6705600"/>
            <a:ext cx="9448423" cy="6644640"/>
          </a:xfrm>
          <a:prstGeom prst="rect">
            <a:avLst/>
          </a:prstGeom>
          <a:noFill/>
          <a:ln>
            <a:noFill/>
          </a:ln>
        </p:spPr>
        <p:txBody>
          <a:bodyPr spcFirstLastPara="1" wrap="square" lIns="91425" tIns="45700" rIns="91425" bIns="45700" anchor="t" anchorCtr="0">
            <a:noAutofit/>
          </a:bodyPr>
          <a:lstStyle>
            <a:lvl1pPr marL="457200" marR="0" lvl="0"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1pPr>
            <a:lvl2pPr marL="914400" marR="0" lvl="1"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2pPr>
            <a:lvl3pPr marL="1371600" marR="0" lvl="2"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3pPr>
            <a:lvl4pPr marL="1828800" marR="0" lvl="3"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4pPr>
            <a:lvl5pPr marL="2286000" marR="0" lvl="4" indent="-380492" algn="l" rtl="0">
              <a:lnSpc>
                <a:spcPct val="164255"/>
              </a:lnSpc>
              <a:spcBef>
                <a:spcPts val="0"/>
              </a:spcBef>
              <a:spcAft>
                <a:spcPts val="0"/>
              </a:spcAft>
              <a:buClr>
                <a:srgbClr val="245EAC"/>
              </a:buClr>
              <a:buSzPts val="2392"/>
              <a:buFont typeface="Arial"/>
              <a:buChar char="•"/>
              <a:defRPr sz="2392" b="0" i="0" u="none" strike="noStrike" cap="none">
                <a:solidFill>
                  <a:srgbClr val="7F7F7F"/>
                </a:solidFill>
                <a:latin typeface="Arial"/>
                <a:ea typeface="Arial"/>
                <a:cs typeface="Arial"/>
                <a:sym typeface="Arial"/>
              </a:defRPr>
            </a:lvl5pPr>
            <a:lvl6pPr marL="2743200" marR="0" lvl="5"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L="3200400" marR="0" lvl="6"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L="3657600" marR="0" lvl="7"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L="4114800" marR="0" lvl="8"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body" idx="6"/>
          </p:nvPr>
        </p:nvSpPr>
        <p:spPr>
          <a:xfrm>
            <a:off x="33046966" y="6705600"/>
            <a:ext cx="9798050" cy="9936480"/>
          </a:xfrm>
          <a:prstGeom prst="rect">
            <a:avLst/>
          </a:prstGeom>
          <a:noFill/>
          <a:ln>
            <a:noFill/>
          </a:ln>
        </p:spPr>
        <p:txBody>
          <a:bodyPr spcFirstLastPara="1" wrap="square" lIns="91425" tIns="45700" rIns="91425" bIns="45700" anchor="t" anchorCtr="0">
            <a:noAutofit/>
          </a:bodyPr>
          <a:lstStyle>
            <a:lvl1pPr marL="457200" marR="0" lvl="0"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1pPr>
            <a:lvl2pPr marL="914400" marR="0" lvl="1"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2pPr>
            <a:lvl3pPr marL="1371600" marR="0" lvl="2"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3pPr>
            <a:lvl4pPr marL="1828800" marR="0" lvl="3"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4pPr>
            <a:lvl5pPr marL="2286000" marR="0" lvl="4" indent="-380492" algn="l" rtl="0">
              <a:lnSpc>
                <a:spcPct val="164255"/>
              </a:lnSpc>
              <a:spcBef>
                <a:spcPts val="0"/>
              </a:spcBef>
              <a:spcAft>
                <a:spcPts val="0"/>
              </a:spcAft>
              <a:buClr>
                <a:srgbClr val="245EAC"/>
              </a:buClr>
              <a:buSzPts val="2392"/>
              <a:buFont typeface="Arial"/>
              <a:buChar char="•"/>
              <a:defRPr sz="2392" b="0" i="0" u="none" strike="noStrike" cap="none">
                <a:solidFill>
                  <a:srgbClr val="7F7F7F"/>
                </a:solidFill>
                <a:latin typeface="Arial"/>
                <a:ea typeface="Arial"/>
                <a:cs typeface="Arial"/>
                <a:sym typeface="Arial"/>
              </a:defRPr>
            </a:lvl5pPr>
            <a:lvl6pPr marL="2743200" marR="0" lvl="5"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L="3200400" marR="0" lvl="6"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L="3657600" marR="0" lvl="7"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L="4114800" marR="0" lvl="8"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
        <p:nvSpPr>
          <p:cNvPr id="26" name="Google Shape;26;p3"/>
          <p:cNvSpPr txBox="1">
            <a:spLocks noGrp="1"/>
          </p:cNvSpPr>
          <p:nvPr>
            <p:ph type="body" idx="7"/>
          </p:nvPr>
        </p:nvSpPr>
        <p:spPr>
          <a:xfrm>
            <a:off x="33046966" y="25130235"/>
            <a:ext cx="9798050" cy="4252487"/>
          </a:xfrm>
          <a:prstGeom prst="rect">
            <a:avLst/>
          </a:prstGeom>
          <a:noFill/>
          <a:ln>
            <a:noFill/>
          </a:ln>
        </p:spPr>
        <p:txBody>
          <a:bodyPr spcFirstLastPara="1" wrap="square" lIns="91425" tIns="45700" rIns="91425" bIns="45700" anchor="t" anchorCtr="0">
            <a:noAutofit/>
          </a:bodyPr>
          <a:lstStyle>
            <a:lvl1pPr marL="457200" marR="0" lvl="0"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1pPr>
            <a:lvl2pPr marL="914400" marR="0" lvl="1"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2pPr>
            <a:lvl3pPr marL="1371600" marR="0" lvl="2"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3pPr>
            <a:lvl4pPr marL="1828800" marR="0" lvl="3"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4pPr>
            <a:lvl5pPr marL="2286000" marR="0" lvl="4" indent="-380492" algn="l" rtl="0">
              <a:lnSpc>
                <a:spcPct val="164255"/>
              </a:lnSpc>
              <a:spcBef>
                <a:spcPts val="0"/>
              </a:spcBef>
              <a:spcAft>
                <a:spcPts val="0"/>
              </a:spcAft>
              <a:buClr>
                <a:srgbClr val="245EAC"/>
              </a:buClr>
              <a:buSzPts val="2392"/>
              <a:buFont typeface="Arial"/>
              <a:buChar char="•"/>
              <a:defRPr sz="2392" b="0" i="0" u="none" strike="noStrike" cap="none">
                <a:solidFill>
                  <a:srgbClr val="7F7F7F"/>
                </a:solidFill>
                <a:latin typeface="Arial"/>
                <a:ea typeface="Arial"/>
                <a:cs typeface="Arial"/>
                <a:sym typeface="Arial"/>
              </a:defRPr>
            </a:lvl5pPr>
            <a:lvl6pPr marL="2743200" marR="0" lvl="5"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L="3200400" marR="0" lvl="6"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L="3657600" marR="0" lvl="7"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L="4114800" marR="0" lvl="8"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
        <p:nvSpPr>
          <p:cNvPr id="27" name="Google Shape;27;p3"/>
          <p:cNvSpPr>
            <a:spLocks noGrp="1"/>
          </p:cNvSpPr>
          <p:nvPr>
            <p:ph type="chart" idx="8"/>
          </p:nvPr>
        </p:nvSpPr>
        <p:spPr>
          <a:xfrm>
            <a:off x="22513521" y="14194529"/>
            <a:ext cx="9454334" cy="6942137"/>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854"/>
              </a:spcBef>
              <a:spcAft>
                <a:spcPts val="0"/>
              </a:spcAft>
              <a:buClr>
                <a:schemeClr val="dk1"/>
              </a:buClr>
              <a:buSzPts val="2392"/>
              <a:buFont typeface="Arial"/>
              <a:buChar char="•"/>
              <a:defRPr sz="2392" b="0" i="0" u="none" strike="noStrike" cap="none">
                <a:solidFill>
                  <a:schemeClr val="dk1"/>
                </a:solidFill>
                <a:latin typeface="Arial"/>
                <a:ea typeface="Arial"/>
                <a:cs typeface="Arial"/>
                <a:sym typeface="Arial"/>
              </a:defRPr>
            </a:lvl1pPr>
            <a:lvl2pPr marR="0" lvl="1" algn="l" rtl="0">
              <a:lnSpc>
                <a:spcPct val="90000"/>
              </a:lnSpc>
              <a:spcBef>
                <a:spcPts val="427"/>
              </a:spcBef>
              <a:spcAft>
                <a:spcPts val="0"/>
              </a:spcAft>
              <a:buClr>
                <a:schemeClr val="dk1"/>
              </a:buClr>
              <a:buSzPts val="2050"/>
              <a:buFont typeface="Arial"/>
              <a:buChar char="•"/>
              <a:defRPr sz="2050" b="0" i="0" u="none" strike="noStrike" cap="none">
                <a:solidFill>
                  <a:schemeClr val="dk1"/>
                </a:solidFill>
                <a:latin typeface="Arial"/>
                <a:ea typeface="Arial"/>
                <a:cs typeface="Arial"/>
                <a:sym typeface="Arial"/>
              </a:defRPr>
            </a:lvl2pPr>
            <a:lvl3pPr marR="0" lvl="2" algn="l" rtl="0">
              <a:lnSpc>
                <a:spcPct val="90000"/>
              </a:lnSpc>
              <a:spcBef>
                <a:spcPts val="427"/>
              </a:spcBef>
              <a:spcAft>
                <a:spcPts val="0"/>
              </a:spcAft>
              <a:buClr>
                <a:schemeClr val="dk1"/>
              </a:buClr>
              <a:buSzPts val="1708"/>
              <a:buFont typeface="Arial"/>
              <a:buChar char="•"/>
              <a:defRPr sz="1708" b="0" i="0" u="none" strike="noStrike" cap="none">
                <a:solidFill>
                  <a:schemeClr val="dk1"/>
                </a:solidFill>
                <a:latin typeface="Arial"/>
                <a:ea typeface="Arial"/>
                <a:cs typeface="Arial"/>
                <a:sym typeface="Arial"/>
              </a:defRPr>
            </a:lvl3pPr>
            <a:lvl4pPr marR="0" lvl="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4pPr>
            <a:lvl5pPr marR="0" lvl="4"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5pPr>
            <a:lvl6pPr marR="0" lvl="5"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R="0" lvl="6"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R="0" lvl="7"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R="0" lvl="8"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
        <p:nvSpPr>
          <p:cNvPr id="28" name="Google Shape;28;p3"/>
          <p:cNvSpPr txBox="1">
            <a:spLocks noGrp="1"/>
          </p:cNvSpPr>
          <p:nvPr>
            <p:ph type="body" idx="9"/>
          </p:nvPr>
        </p:nvSpPr>
        <p:spPr>
          <a:xfrm>
            <a:off x="22513522" y="21847581"/>
            <a:ext cx="9417420" cy="7596100"/>
          </a:xfrm>
          <a:prstGeom prst="rect">
            <a:avLst/>
          </a:prstGeom>
          <a:noFill/>
          <a:ln>
            <a:noFill/>
          </a:ln>
        </p:spPr>
        <p:txBody>
          <a:bodyPr spcFirstLastPara="1" wrap="square" lIns="91425" tIns="45700" rIns="91425" bIns="45700" anchor="t" anchorCtr="0">
            <a:noAutofit/>
          </a:bodyPr>
          <a:lstStyle>
            <a:lvl1pPr marL="457200" marR="0" lvl="0"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1pPr>
            <a:lvl2pPr marL="914400" marR="0" lvl="1"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2pPr>
            <a:lvl3pPr marL="1371600" marR="0" lvl="2"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3pPr>
            <a:lvl4pPr marL="1828800" marR="0" lvl="3" indent="-380492" algn="l" rtl="0">
              <a:lnSpc>
                <a:spcPct val="164255"/>
              </a:lnSpc>
              <a:spcBef>
                <a:spcPts val="0"/>
              </a:spcBef>
              <a:spcAft>
                <a:spcPts val="0"/>
              </a:spcAft>
              <a:buClr>
                <a:srgbClr val="7F7F7F"/>
              </a:buClr>
              <a:buSzPts val="2392"/>
              <a:buFont typeface="Arial"/>
              <a:buChar char="•"/>
              <a:defRPr sz="2392" b="0" i="0" u="none" strike="noStrike" cap="none">
                <a:solidFill>
                  <a:srgbClr val="7F7F7F"/>
                </a:solidFill>
                <a:latin typeface="Arial"/>
                <a:ea typeface="Arial"/>
                <a:cs typeface="Arial"/>
                <a:sym typeface="Arial"/>
              </a:defRPr>
            </a:lvl4pPr>
            <a:lvl5pPr marL="2286000" marR="0" lvl="4" indent="-380492" algn="l" rtl="0">
              <a:lnSpc>
                <a:spcPct val="164255"/>
              </a:lnSpc>
              <a:spcBef>
                <a:spcPts val="0"/>
              </a:spcBef>
              <a:spcAft>
                <a:spcPts val="0"/>
              </a:spcAft>
              <a:buClr>
                <a:srgbClr val="245EAC"/>
              </a:buClr>
              <a:buSzPts val="2392"/>
              <a:buFont typeface="Arial"/>
              <a:buChar char="•"/>
              <a:defRPr sz="2392" b="0" i="0" u="none" strike="noStrike" cap="none">
                <a:solidFill>
                  <a:srgbClr val="7F7F7F"/>
                </a:solidFill>
                <a:latin typeface="Arial"/>
                <a:ea typeface="Arial"/>
                <a:cs typeface="Arial"/>
                <a:sym typeface="Arial"/>
              </a:defRPr>
            </a:lvl5pPr>
            <a:lvl6pPr marL="2743200" marR="0" lvl="5"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6pPr>
            <a:lvl7pPr marL="3200400" marR="0" lvl="6"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7pPr>
            <a:lvl8pPr marL="3657600" marR="0" lvl="7"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8pPr>
            <a:lvl9pPr marL="4114800" marR="0" lvl="8" indent="-326263" algn="l" rtl="0">
              <a:lnSpc>
                <a:spcPct val="90000"/>
              </a:lnSpc>
              <a:spcBef>
                <a:spcPts val="427"/>
              </a:spcBef>
              <a:spcAft>
                <a:spcPts val="0"/>
              </a:spcAft>
              <a:buClr>
                <a:schemeClr val="dk1"/>
              </a:buClr>
              <a:buSzPts val="1538"/>
              <a:buFont typeface="Arial"/>
              <a:buChar char="•"/>
              <a:defRPr sz="1538"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5486400"/>
          </a:xfrm>
          <a:prstGeom prst="rect">
            <a:avLst/>
          </a:prstGeom>
          <a:solidFill>
            <a:srgbClr val="5D002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900"/>
              <a:buFont typeface="Arial"/>
              <a:buNone/>
            </a:pPr>
            <a:endParaRPr sz="2900" b="0" i="0" u="none" strike="noStrike" cap="none">
              <a:solidFill>
                <a:schemeClr val="dk1"/>
              </a:solidFill>
              <a:latin typeface="Arial"/>
              <a:ea typeface="Arial"/>
              <a:cs typeface="Arial"/>
              <a:sym typeface="Arial"/>
            </a:endParaRPr>
          </a:p>
        </p:txBody>
      </p:sp>
      <p:sp>
        <p:nvSpPr>
          <p:cNvPr id="7" name="Google Shape;7;p2"/>
          <p:cNvSpPr/>
          <p:nvPr/>
        </p:nvSpPr>
        <p:spPr>
          <a:xfrm>
            <a:off x="0" y="5257801"/>
            <a:ext cx="43891200" cy="265176"/>
          </a:xfrm>
          <a:prstGeom prst="rect">
            <a:avLst/>
          </a:prstGeom>
          <a:solidFill>
            <a:srgbClr val="8D506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58"/>
              <a:buFont typeface="Arial"/>
              <a:buNone/>
            </a:pPr>
            <a:endParaRPr sz="7258" b="0" i="0" u="none" strike="noStrike" cap="none">
              <a:solidFill>
                <a:schemeClr val="lt1"/>
              </a:solidFill>
              <a:latin typeface="Arial"/>
              <a:ea typeface="Arial"/>
              <a:cs typeface="Arial"/>
              <a:sym typeface="Arial"/>
            </a:endParaRPr>
          </a:p>
        </p:txBody>
      </p:sp>
      <p:sp>
        <p:nvSpPr>
          <p:cNvPr id="8" name="Google Shape;8;p2"/>
          <p:cNvSpPr/>
          <p:nvPr/>
        </p:nvSpPr>
        <p:spPr>
          <a:xfrm>
            <a:off x="0" y="31470600"/>
            <a:ext cx="43891200" cy="1447800"/>
          </a:xfrm>
          <a:prstGeom prst="rect">
            <a:avLst/>
          </a:prstGeom>
          <a:solidFill>
            <a:srgbClr val="5D002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900"/>
              <a:buFont typeface="Arial"/>
              <a:buNone/>
            </a:pPr>
            <a:endParaRPr sz="2900" b="0" i="0" u="none" strike="noStrike" cap="none">
              <a:solidFill>
                <a:schemeClr val="dk1"/>
              </a:solidFill>
              <a:latin typeface="Arial"/>
              <a:ea typeface="Arial"/>
              <a:cs typeface="Arial"/>
              <a:sym typeface="Arial"/>
            </a:endParaRPr>
          </a:p>
        </p:txBody>
      </p:sp>
      <p:cxnSp>
        <p:nvCxnSpPr>
          <p:cNvPr id="9" name="Google Shape;9;p2"/>
          <p:cNvCxnSpPr/>
          <p:nvPr/>
        </p:nvCxnSpPr>
        <p:spPr>
          <a:xfrm>
            <a:off x="31543262" y="30837464"/>
            <a:ext cx="0" cy="1588169"/>
          </a:xfrm>
          <a:prstGeom prst="straightConnector1">
            <a:avLst/>
          </a:prstGeom>
          <a:noFill/>
          <a:ln w="25400" cap="flat" cmpd="sng">
            <a:solidFill>
              <a:schemeClr val="lt1"/>
            </a:solidFill>
            <a:prstDash val="dash"/>
            <a:miter lim="800000"/>
            <a:headEnd type="none" w="sm" len="sm"/>
            <a:tailEnd type="none" w="sm" len="sm"/>
          </a:ln>
        </p:spPr>
      </p:cxnSp>
      <p:pic>
        <p:nvPicPr>
          <p:cNvPr id="10" name="Google Shape;10;p2"/>
          <p:cNvPicPr preferRelativeResize="0"/>
          <p:nvPr/>
        </p:nvPicPr>
        <p:blipFill rotWithShape="1">
          <a:blip r:embed="rId3">
            <a:alphaModFix/>
          </a:blip>
          <a:srcRect/>
          <a:stretch/>
        </p:blipFill>
        <p:spPr>
          <a:xfrm>
            <a:off x="1" y="0"/>
            <a:ext cx="37322118" cy="2503724"/>
          </a:xfrm>
          <a:prstGeom prst="rect">
            <a:avLst/>
          </a:prstGeom>
          <a:noFill/>
          <a:ln>
            <a:noFill/>
          </a:ln>
        </p:spPr>
      </p:pic>
      <p:pic>
        <p:nvPicPr>
          <p:cNvPr id="11" name="Google Shape;11;p2"/>
          <p:cNvPicPr preferRelativeResize="0"/>
          <p:nvPr/>
        </p:nvPicPr>
        <p:blipFill rotWithShape="1">
          <a:blip r:embed="rId3">
            <a:alphaModFix/>
          </a:blip>
          <a:srcRect l="65059"/>
          <a:stretch/>
        </p:blipFill>
        <p:spPr>
          <a:xfrm>
            <a:off x="1" y="31434024"/>
            <a:ext cx="43939859" cy="1471433"/>
          </a:xfrm>
          <a:prstGeom prst="rect">
            <a:avLst/>
          </a:prstGeom>
          <a:noFill/>
          <a:ln>
            <a:noFill/>
          </a:ln>
        </p:spPr>
      </p:pic>
      <p:pic>
        <p:nvPicPr>
          <p:cNvPr id="12" name="Google Shape;12;p2"/>
          <p:cNvPicPr preferRelativeResize="0"/>
          <p:nvPr/>
        </p:nvPicPr>
        <p:blipFill rotWithShape="1">
          <a:blip r:embed="rId3">
            <a:alphaModFix/>
          </a:blip>
          <a:srcRect l="65059"/>
          <a:stretch/>
        </p:blipFill>
        <p:spPr>
          <a:xfrm>
            <a:off x="1" y="2503724"/>
            <a:ext cx="43891201" cy="2982676"/>
          </a:xfrm>
          <a:prstGeom prst="rect">
            <a:avLst/>
          </a:prstGeom>
          <a:noFill/>
          <a:ln>
            <a:noFill/>
          </a:ln>
        </p:spPr>
      </p:pic>
      <p:pic>
        <p:nvPicPr>
          <p:cNvPr id="13" name="Google Shape;13;p2"/>
          <p:cNvPicPr preferRelativeResize="0"/>
          <p:nvPr/>
        </p:nvPicPr>
        <p:blipFill rotWithShape="1">
          <a:blip r:embed="rId3">
            <a:alphaModFix/>
          </a:blip>
          <a:srcRect l="65059"/>
          <a:stretch/>
        </p:blipFill>
        <p:spPr>
          <a:xfrm>
            <a:off x="36157168" y="0"/>
            <a:ext cx="7734033" cy="2982676"/>
          </a:xfrm>
          <a:prstGeom prst="rect">
            <a:avLst/>
          </a:prstGeom>
          <a:noFill/>
          <a:ln>
            <a:noFill/>
          </a:ln>
        </p:spPr>
      </p:pic>
      <p:pic>
        <p:nvPicPr>
          <p:cNvPr id="14" name="Google Shape;14;p2"/>
          <p:cNvPicPr preferRelativeResize="0"/>
          <p:nvPr/>
        </p:nvPicPr>
        <p:blipFill rotWithShape="1">
          <a:blip r:embed="rId3">
            <a:alphaModFix/>
          </a:blip>
          <a:srcRect l="65059"/>
          <a:stretch/>
        </p:blipFill>
        <p:spPr>
          <a:xfrm>
            <a:off x="1" y="31470601"/>
            <a:ext cx="43891201" cy="95503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sp>
        <p:nvSpPr>
          <p:cNvPr id="33" name="Google Shape;33;p1"/>
          <p:cNvSpPr/>
          <p:nvPr/>
        </p:nvSpPr>
        <p:spPr>
          <a:xfrm>
            <a:off x="1688825" y="1207050"/>
            <a:ext cx="40679649" cy="3423704"/>
          </a:xfrm>
          <a:prstGeom prst="rect">
            <a:avLst/>
          </a:prstGeom>
          <a:noFill/>
          <a:ln>
            <a:noFill/>
          </a:ln>
        </p:spPr>
        <p:txBody>
          <a:bodyPr spcFirstLastPara="1" wrap="square" lIns="77925" tIns="38950" rIns="77925" bIns="38950" anchor="t" anchorCtr="0">
            <a:noAutofit/>
          </a:bodyPr>
          <a:lstStyle/>
          <a:p>
            <a:pPr algn="ctr">
              <a:buSzPts val="8800"/>
            </a:pPr>
            <a:r>
              <a:rPr lang="en-US" sz="8800" b="1" dirty="0">
                <a:solidFill>
                  <a:schemeClr val="lt1"/>
                </a:solidFill>
              </a:rPr>
              <a:t>SLAM</a:t>
            </a:r>
            <a:endParaRPr sz="1400" b="0" i="0" u="none" strike="noStrike" cap="none" dirty="0">
              <a:solidFill>
                <a:schemeClr val="lt1"/>
              </a:solidFill>
              <a:latin typeface="Arial"/>
              <a:ea typeface="Arial"/>
              <a:cs typeface="Arial"/>
              <a:sym typeface="Arial"/>
            </a:endParaRPr>
          </a:p>
          <a:p>
            <a:pPr marL="0" marR="0" lvl="0" indent="0" algn="ctr" rtl="0">
              <a:lnSpc>
                <a:spcPct val="100000"/>
              </a:lnSpc>
              <a:spcBef>
                <a:spcPts val="513"/>
              </a:spcBef>
              <a:spcAft>
                <a:spcPts val="0"/>
              </a:spcAft>
              <a:buClr>
                <a:srgbClr val="000000"/>
              </a:buClr>
              <a:buSzPts val="5400"/>
              <a:buFont typeface="Arial"/>
              <a:buNone/>
            </a:pPr>
            <a:r>
              <a:rPr lang="en-US" sz="5400" b="1" dirty="0">
                <a:solidFill>
                  <a:schemeClr val="lt1"/>
                </a:solidFill>
              </a:rPr>
              <a:t>Farris Rizwan</a:t>
            </a:r>
            <a:r>
              <a:rPr lang="en-US" sz="5400" b="1" i="0" u="none" strike="noStrike" cap="none" dirty="0">
                <a:solidFill>
                  <a:schemeClr val="lt1"/>
                </a:solidFill>
                <a:latin typeface="Arial"/>
                <a:ea typeface="Arial"/>
                <a:cs typeface="Arial"/>
                <a:sym typeface="Arial"/>
              </a:rPr>
              <a:t>, </a:t>
            </a:r>
            <a:r>
              <a:rPr lang="en-US" sz="5400" b="1" dirty="0">
                <a:solidFill>
                  <a:schemeClr val="lt1"/>
                </a:solidFill>
              </a:rPr>
              <a:t>Dev Patel</a:t>
            </a:r>
            <a:r>
              <a:rPr lang="en-US" sz="5400" b="1" i="0" u="none" strike="noStrike" cap="none" dirty="0">
                <a:solidFill>
                  <a:schemeClr val="lt1"/>
                </a:solidFill>
                <a:latin typeface="Arial"/>
                <a:ea typeface="Arial"/>
                <a:cs typeface="Arial"/>
                <a:sym typeface="Arial"/>
              </a:rPr>
              <a:t>,</a:t>
            </a:r>
            <a:r>
              <a:rPr lang="en-US" sz="5400" b="1" dirty="0">
                <a:solidFill>
                  <a:schemeClr val="lt1"/>
                </a:solidFill>
              </a:rPr>
              <a:t> Brian McKeown, Kiran </a:t>
            </a:r>
            <a:r>
              <a:rPr lang="en-US" sz="5400" b="1" dirty="0" err="1">
                <a:solidFill>
                  <a:schemeClr val="lt1"/>
                </a:solidFill>
              </a:rPr>
              <a:t>Vengurlekar</a:t>
            </a:r>
            <a:r>
              <a:rPr lang="en-US" sz="5400" b="1" dirty="0">
                <a:solidFill>
                  <a:schemeClr val="lt1"/>
                </a:solidFill>
              </a:rPr>
              <a:t>, and Ethan Ortiz</a:t>
            </a:r>
            <a:endParaRPr sz="5400" b="1" i="0" u="none" strike="noStrike" cap="none" dirty="0">
              <a:solidFill>
                <a:schemeClr val="lt1"/>
              </a:solidFill>
              <a:latin typeface="Arial"/>
              <a:ea typeface="Arial"/>
              <a:cs typeface="Arial"/>
              <a:sym typeface="Arial"/>
            </a:endParaRPr>
          </a:p>
          <a:p>
            <a:pPr algn="ctr">
              <a:spcBef>
                <a:spcPts val="2051"/>
              </a:spcBef>
              <a:buSzPts val="5400"/>
            </a:pPr>
            <a:r>
              <a:rPr lang="en-US" sz="5400" b="1" dirty="0">
                <a:solidFill>
                  <a:schemeClr val="lt1"/>
                </a:solidFill>
              </a:rPr>
              <a:t>Sponsored By: </a:t>
            </a:r>
            <a:r>
              <a:rPr lang="en-US" sz="5400" b="1" dirty="0" err="1">
                <a:solidFill>
                  <a:schemeClr val="lt1"/>
                </a:solidFill>
              </a:rPr>
              <a:t>SpatialGen</a:t>
            </a:r>
            <a:r>
              <a:rPr lang="en-US" sz="5400" b="1" dirty="0">
                <a:solidFill>
                  <a:schemeClr val="lt1"/>
                </a:solidFill>
              </a:rPr>
              <a:t> (Zachary Handshoe)</a:t>
            </a:r>
            <a:endParaRPr lang="en-US" sz="1400" b="0" i="0" u="none" strike="noStrike" cap="none" dirty="0">
              <a:solidFill>
                <a:schemeClr val="lt1"/>
              </a:solidFill>
              <a:latin typeface="Arial"/>
              <a:ea typeface="Arial"/>
              <a:cs typeface="Arial"/>
              <a:sym typeface="Arial"/>
            </a:endParaRPr>
          </a:p>
        </p:txBody>
      </p:sp>
      <p:sp>
        <p:nvSpPr>
          <p:cNvPr id="34" name="Google Shape;34;p1"/>
          <p:cNvSpPr txBox="1"/>
          <p:nvPr/>
        </p:nvSpPr>
        <p:spPr>
          <a:xfrm>
            <a:off x="914400" y="7003709"/>
            <a:ext cx="9829801" cy="4735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77"/>
              <a:buFont typeface="Arial"/>
              <a:buNone/>
            </a:pPr>
            <a:endParaRPr sz="2477" b="0" i="0" u="none" strike="noStrike" cap="none">
              <a:solidFill>
                <a:schemeClr val="dk1"/>
              </a:solidFill>
              <a:latin typeface="Arial"/>
              <a:ea typeface="Arial"/>
              <a:cs typeface="Arial"/>
              <a:sym typeface="Arial"/>
            </a:endParaRPr>
          </a:p>
        </p:txBody>
      </p:sp>
      <p:sp>
        <p:nvSpPr>
          <p:cNvPr id="35" name="Google Shape;35;p1"/>
          <p:cNvSpPr/>
          <p:nvPr/>
        </p:nvSpPr>
        <p:spPr>
          <a:xfrm>
            <a:off x="28758897" y="10200847"/>
            <a:ext cx="249237" cy="980380"/>
          </a:xfrm>
          <a:custGeom>
            <a:avLst/>
            <a:gdLst/>
            <a:ahLst/>
            <a:cxnLst/>
            <a:rect l="l" t="t" r="r" b="b"/>
            <a:pathLst>
              <a:path w="387439" h="1641711" extrusionOk="0">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00"/>
              <a:buFont typeface="Arial"/>
              <a:buNone/>
            </a:pPr>
            <a:endParaRPr sz="6200" b="0" i="0" u="none" strike="noStrike" cap="none">
              <a:solidFill>
                <a:schemeClr val="lt1"/>
              </a:solidFill>
              <a:latin typeface="Arial"/>
              <a:ea typeface="Arial"/>
              <a:cs typeface="Arial"/>
              <a:sym typeface="Arial"/>
            </a:endParaRPr>
          </a:p>
        </p:txBody>
      </p:sp>
      <p:sp>
        <p:nvSpPr>
          <p:cNvPr id="36" name="Google Shape;36;p1"/>
          <p:cNvSpPr/>
          <p:nvPr/>
        </p:nvSpPr>
        <p:spPr>
          <a:xfrm rot="10800000">
            <a:off x="31082997" y="10215763"/>
            <a:ext cx="249237" cy="980381"/>
          </a:xfrm>
          <a:custGeom>
            <a:avLst/>
            <a:gdLst/>
            <a:ahLst/>
            <a:cxnLst/>
            <a:rect l="l" t="t" r="r" b="b"/>
            <a:pathLst>
              <a:path w="387439" h="1641711" extrusionOk="0">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00"/>
              <a:buFont typeface="Arial"/>
              <a:buNone/>
            </a:pPr>
            <a:endParaRPr sz="6200" b="0" i="0" u="none" strike="noStrike" cap="none">
              <a:solidFill>
                <a:schemeClr val="lt1"/>
              </a:solidFill>
              <a:latin typeface="Arial"/>
              <a:ea typeface="Arial"/>
              <a:cs typeface="Arial"/>
              <a:sym typeface="Arial"/>
            </a:endParaRPr>
          </a:p>
        </p:txBody>
      </p:sp>
      <p:pic>
        <p:nvPicPr>
          <p:cNvPr id="37" name="Google Shape;37;p1"/>
          <p:cNvPicPr preferRelativeResize="0"/>
          <p:nvPr/>
        </p:nvPicPr>
        <p:blipFill rotWithShape="1">
          <a:blip r:embed="rId3">
            <a:alphaModFix/>
          </a:blip>
          <a:srcRect/>
          <a:stretch/>
        </p:blipFill>
        <p:spPr>
          <a:xfrm>
            <a:off x="22867189" y="8617932"/>
            <a:ext cx="707508" cy="604330"/>
          </a:xfrm>
          <a:prstGeom prst="rect">
            <a:avLst/>
          </a:prstGeom>
          <a:noFill/>
          <a:ln>
            <a:noFill/>
          </a:ln>
        </p:spPr>
      </p:pic>
      <p:pic>
        <p:nvPicPr>
          <p:cNvPr id="38" name="Google Shape;38;p1"/>
          <p:cNvPicPr preferRelativeResize="0"/>
          <p:nvPr/>
        </p:nvPicPr>
        <p:blipFill rotWithShape="1">
          <a:blip r:embed="rId4">
            <a:alphaModFix/>
          </a:blip>
          <a:srcRect/>
          <a:stretch/>
        </p:blipFill>
        <p:spPr>
          <a:xfrm>
            <a:off x="22214062" y="14572765"/>
            <a:ext cx="707508" cy="604330"/>
          </a:xfrm>
          <a:prstGeom prst="rect">
            <a:avLst/>
          </a:prstGeom>
          <a:noFill/>
          <a:ln>
            <a:noFill/>
          </a:ln>
        </p:spPr>
      </p:pic>
      <p:pic>
        <p:nvPicPr>
          <p:cNvPr id="39" name="Google Shape;39;p1"/>
          <p:cNvPicPr preferRelativeResize="0"/>
          <p:nvPr/>
        </p:nvPicPr>
        <p:blipFill rotWithShape="1">
          <a:blip r:embed="rId5">
            <a:alphaModFix/>
          </a:blip>
          <a:srcRect/>
          <a:stretch/>
        </p:blipFill>
        <p:spPr>
          <a:xfrm>
            <a:off x="27428630" y="14602530"/>
            <a:ext cx="707508" cy="604330"/>
          </a:xfrm>
          <a:prstGeom prst="rect">
            <a:avLst/>
          </a:prstGeom>
          <a:noFill/>
          <a:ln>
            <a:noFill/>
          </a:ln>
        </p:spPr>
      </p:pic>
      <p:cxnSp>
        <p:nvCxnSpPr>
          <p:cNvPr id="40" name="Google Shape;40;p1"/>
          <p:cNvCxnSpPr/>
          <p:nvPr/>
        </p:nvCxnSpPr>
        <p:spPr>
          <a:xfrm>
            <a:off x="946151" y="12692857"/>
            <a:ext cx="9784080" cy="0"/>
          </a:xfrm>
          <a:prstGeom prst="straightConnector1">
            <a:avLst/>
          </a:prstGeom>
          <a:noFill/>
          <a:ln w="25400" cap="flat" cmpd="sng">
            <a:solidFill>
              <a:schemeClr val="dk1"/>
            </a:solidFill>
            <a:prstDash val="dash"/>
            <a:round/>
            <a:headEnd type="none" w="sm" len="sm"/>
            <a:tailEnd type="none" w="sm" len="sm"/>
          </a:ln>
        </p:spPr>
      </p:cxnSp>
      <p:cxnSp>
        <p:nvCxnSpPr>
          <p:cNvPr id="41" name="Google Shape;41;p1"/>
          <p:cNvCxnSpPr/>
          <p:nvPr/>
        </p:nvCxnSpPr>
        <p:spPr>
          <a:xfrm>
            <a:off x="22279548" y="13741429"/>
            <a:ext cx="9784200" cy="0"/>
          </a:xfrm>
          <a:prstGeom prst="straightConnector1">
            <a:avLst/>
          </a:prstGeom>
          <a:noFill/>
          <a:ln w="25400" cap="flat" cmpd="sng">
            <a:solidFill>
              <a:schemeClr val="dk1"/>
            </a:solidFill>
            <a:prstDash val="dash"/>
            <a:round/>
            <a:headEnd type="none" w="sm" len="sm"/>
            <a:tailEnd type="none" w="sm" len="sm"/>
          </a:ln>
        </p:spPr>
      </p:cxnSp>
      <p:cxnSp>
        <p:nvCxnSpPr>
          <p:cNvPr id="42" name="Google Shape;42;p1"/>
          <p:cNvCxnSpPr/>
          <p:nvPr/>
        </p:nvCxnSpPr>
        <p:spPr>
          <a:xfrm>
            <a:off x="22357808" y="19463760"/>
            <a:ext cx="9829800" cy="0"/>
          </a:xfrm>
          <a:prstGeom prst="straightConnector1">
            <a:avLst/>
          </a:prstGeom>
          <a:noFill/>
          <a:ln w="25400" cap="flat" cmpd="sng">
            <a:solidFill>
              <a:schemeClr val="dk1"/>
            </a:solidFill>
            <a:prstDash val="dash"/>
            <a:round/>
            <a:headEnd type="none" w="sm" len="sm"/>
            <a:tailEnd type="none" w="sm" len="sm"/>
          </a:ln>
        </p:spPr>
      </p:cxnSp>
      <p:sp>
        <p:nvSpPr>
          <p:cNvPr id="43" name="Google Shape;43;p1"/>
          <p:cNvSpPr txBox="1"/>
          <p:nvPr/>
        </p:nvSpPr>
        <p:spPr>
          <a:xfrm>
            <a:off x="22346884" y="24925397"/>
            <a:ext cx="9388200" cy="4676946"/>
          </a:xfrm>
          <a:prstGeom prst="rect">
            <a:avLst/>
          </a:prstGeom>
          <a:solidFill>
            <a:schemeClr val="lt1">
              <a:alpha val="41176"/>
            </a:schemeClr>
          </a:solidFill>
          <a:ln>
            <a:noFill/>
          </a:ln>
        </p:spPr>
        <p:txBody>
          <a:bodyPr spcFirstLastPara="1" wrap="square" lIns="91425" tIns="45700" rIns="91425" bIns="45700" anchor="t" anchorCtr="0">
            <a:spAutoFit/>
          </a:bodyPr>
          <a:lstStyle/>
          <a:p>
            <a:pPr marL="457200" lvl="0" indent="-406400" algn="l" rtl="0">
              <a:spcBef>
                <a:spcPts val="0"/>
              </a:spcBef>
              <a:spcAft>
                <a:spcPts val="0"/>
              </a:spcAft>
              <a:buSzPts val="2800"/>
              <a:buAutoNum type="arabicPeriod"/>
            </a:pPr>
            <a:r>
              <a:rPr lang="en-US" sz="2800">
                <a:solidFill>
                  <a:schemeClr val="tx1"/>
                </a:solidFill>
              </a:rPr>
              <a:t>PSNR shows that rendered frames closely match the ground truth images.</a:t>
            </a:r>
          </a:p>
          <a:p>
            <a:pPr marL="457200" lvl="0" indent="-406400" algn="l" rtl="0">
              <a:spcBef>
                <a:spcPts val="0"/>
              </a:spcBef>
              <a:spcAft>
                <a:spcPts val="0"/>
              </a:spcAft>
              <a:buSzPts val="2800"/>
              <a:buAutoNum type="arabicPeriod"/>
            </a:pPr>
            <a:r>
              <a:rPr lang="en-US" sz="2800">
                <a:solidFill>
                  <a:schemeClr val="tx1"/>
                </a:solidFill>
              </a:rPr>
              <a:t>SSIMs over </a:t>
            </a:r>
            <a:r>
              <a:rPr lang="en-US" sz="2800" b="1">
                <a:solidFill>
                  <a:schemeClr val="tx1"/>
                </a:solidFill>
              </a:rPr>
              <a:t>0.9</a:t>
            </a:r>
            <a:r>
              <a:rPr lang="en-US" sz="2800">
                <a:solidFill>
                  <a:schemeClr val="tx1"/>
                </a:solidFill>
              </a:rPr>
              <a:t> indicate strong structural similarity.</a:t>
            </a:r>
          </a:p>
          <a:p>
            <a:pPr marL="457200" indent="-406400">
              <a:buSzPts val="2800"/>
              <a:buAutoNum type="arabicPeriod"/>
            </a:pPr>
            <a:r>
              <a:rPr lang="en-US" sz="2800">
                <a:solidFill>
                  <a:schemeClr val="tx1"/>
                </a:solidFill>
              </a:rPr>
              <a:t>Depth predictions are sharp and accurate at the SLAM level</a:t>
            </a:r>
          </a:p>
          <a:p>
            <a:pPr marL="457200" indent="-406400">
              <a:buSzPts val="2800"/>
              <a:buAutoNum type="arabicPeriod"/>
            </a:pPr>
            <a:r>
              <a:rPr lang="en-US" sz="2800">
                <a:solidFill>
                  <a:schemeClr val="tx1"/>
                </a:solidFill>
              </a:rPr>
              <a:t>Depth maps created by stereo video are not accurate without ML</a:t>
            </a:r>
          </a:p>
          <a:p>
            <a:pPr marL="457200" lvl="0" indent="-406400" algn="l" rtl="0">
              <a:spcBef>
                <a:spcPts val="0"/>
              </a:spcBef>
              <a:spcAft>
                <a:spcPts val="0"/>
              </a:spcAft>
              <a:buSzPts val="2800"/>
              <a:buAutoNum type="arabicPeriod"/>
            </a:pPr>
            <a:r>
              <a:rPr lang="en-US" sz="2800">
                <a:solidFill>
                  <a:schemeClr val="tx1"/>
                </a:solidFill>
              </a:rPr>
              <a:t>SLAM maintained performance above </a:t>
            </a:r>
            <a:r>
              <a:rPr lang="en-US" sz="2800" b="1">
                <a:solidFill>
                  <a:schemeClr val="tx1"/>
                </a:solidFill>
              </a:rPr>
              <a:t>1</a:t>
            </a:r>
            <a:r>
              <a:rPr lang="en-US" sz="2800">
                <a:solidFill>
                  <a:schemeClr val="tx1"/>
                </a:solidFill>
              </a:rPr>
              <a:t> fps in most configurations</a:t>
            </a:r>
            <a:endParaRPr lang="en-US" sz="2800" b="1">
              <a:solidFill>
                <a:schemeClr val="tx1"/>
              </a:solidFill>
            </a:endParaRPr>
          </a:p>
          <a:p>
            <a:pPr marL="0" marR="0" lvl="0" indent="0" algn="l" rtl="0">
              <a:lnSpc>
                <a:spcPct val="164285"/>
              </a:lnSpc>
              <a:spcBef>
                <a:spcPts val="0"/>
              </a:spcBef>
              <a:spcAft>
                <a:spcPts val="0"/>
              </a:spcAft>
              <a:buClr>
                <a:srgbClr val="000000"/>
              </a:buClr>
              <a:buSzPts val="2800"/>
              <a:buFont typeface="Arial"/>
              <a:buNone/>
            </a:pPr>
            <a:endParaRPr sz="2800" b="1">
              <a:solidFill>
                <a:schemeClr val="tx1"/>
              </a:solidFill>
            </a:endParaRPr>
          </a:p>
        </p:txBody>
      </p:sp>
      <p:cxnSp>
        <p:nvCxnSpPr>
          <p:cNvPr id="44" name="Google Shape;44;p1"/>
          <p:cNvCxnSpPr/>
          <p:nvPr/>
        </p:nvCxnSpPr>
        <p:spPr>
          <a:xfrm>
            <a:off x="33028817" y="25028700"/>
            <a:ext cx="9482518" cy="0"/>
          </a:xfrm>
          <a:prstGeom prst="straightConnector1">
            <a:avLst/>
          </a:prstGeom>
          <a:noFill/>
          <a:ln w="25400" cap="flat" cmpd="sng">
            <a:solidFill>
              <a:schemeClr val="dk1"/>
            </a:solidFill>
            <a:prstDash val="dash"/>
            <a:round/>
            <a:headEnd type="none" w="sm" len="sm"/>
            <a:tailEnd type="none" w="sm" len="sm"/>
          </a:ln>
        </p:spPr>
      </p:cxnSp>
      <p:sp>
        <p:nvSpPr>
          <p:cNvPr id="45" name="Google Shape;45;p1"/>
          <p:cNvSpPr txBox="1"/>
          <p:nvPr/>
        </p:nvSpPr>
        <p:spPr>
          <a:xfrm>
            <a:off x="11538458" y="30668790"/>
            <a:ext cx="9829801" cy="523220"/>
          </a:xfrm>
          <a:prstGeom prst="rect">
            <a:avLst/>
          </a:prstGeom>
          <a:solidFill>
            <a:schemeClr val="lt1">
              <a:alpha val="41176"/>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i="1">
                <a:solidFill>
                  <a:schemeClr val="dk1"/>
                </a:solidFill>
              </a:rPr>
              <a:t>Functional Structural Design</a:t>
            </a:r>
            <a:r>
              <a:rPr lang="en-US" sz="2800" b="0" i="1"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46" name="Google Shape;46;p1"/>
          <p:cNvSpPr txBox="1"/>
          <p:nvPr/>
        </p:nvSpPr>
        <p:spPr>
          <a:xfrm>
            <a:off x="22283700" y="23730752"/>
            <a:ext cx="9829800" cy="646290"/>
          </a:xfrm>
          <a:prstGeom prst="rect">
            <a:avLst/>
          </a:prstGeom>
          <a:solidFill>
            <a:schemeClr val="lt1">
              <a:alpha val="4118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50"/>
              <a:buFont typeface="Arial"/>
              <a:buNone/>
            </a:pPr>
            <a:r>
              <a:rPr lang="en-US" sz="3600" i="1">
                <a:solidFill>
                  <a:schemeClr val="dk1"/>
                </a:solidFill>
              </a:rPr>
              <a:t>Key Statistical Findings</a:t>
            </a:r>
            <a:endParaRPr lang="en-US" sz="3600" b="0" i="0" u="none" strike="noStrike" cap="none">
              <a:solidFill>
                <a:schemeClr val="dk1"/>
              </a:solidFill>
              <a:latin typeface="Arial"/>
              <a:ea typeface="Arial"/>
              <a:cs typeface="Arial"/>
              <a:sym typeface="Arial"/>
            </a:endParaRPr>
          </a:p>
        </p:txBody>
      </p:sp>
      <p:cxnSp>
        <p:nvCxnSpPr>
          <p:cNvPr id="47" name="Google Shape;47;p1"/>
          <p:cNvCxnSpPr/>
          <p:nvPr/>
        </p:nvCxnSpPr>
        <p:spPr>
          <a:xfrm>
            <a:off x="27090255" y="14565469"/>
            <a:ext cx="0" cy="3814800"/>
          </a:xfrm>
          <a:prstGeom prst="straightConnector1">
            <a:avLst/>
          </a:prstGeom>
          <a:noFill/>
          <a:ln w="25400" cap="flat" cmpd="sng">
            <a:solidFill>
              <a:schemeClr val="dk1"/>
            </a:solidFill>
            <a:prstDash val="dash"/>
            <a:round/>
            <a:headEnd type="none" w="sm" len="sm"/>
            <a:tailEnd type="none" w="sm" len="sm"/>
          </a:ln>
        </p:spPr>
      </p:cxnSp>
      <p:sp>
        <p:nvSpPr>
          <p:cNvPr id="48" name="Google Shape;48;p1"/>
          <p:cNvSpPr txBox="1"/>
          <p:nvPr/>
        </p:nvSpPr>
        <p:spPr>
          <a:xfrm>
            <a:off x="1107700" y="6932975"/>
            <a:ext cx="9667800" cy="6736227"/>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833"/>
              </a:lnSpc>
              <a:spcBef>
                <a:spcPts val="0"/>
              </a:spcBef>
              <a:spcAft>
                <a:spcPts val="0"/>
              </a:spcAft>
              <a:buClr>
                <a:srgbClr val="000000"/>
              </a:buClr>
              <a:buSzPts val="4800"/>
              <a:buFont typeface="Arial"/>
              <a:buNone/>
            </a:pPr>
            <a:r>
              <a:rPr lang="en-US" sz="4800" b="1" i="0" u="sng" strike="noStrike" cap="none">
                <a:solidFill>
                  <a:schemeClr val="bg2"/>
                </a:solidFill>
                <a:latin typeface="Arial"/>
                <a:ea typeface="Arial"/>
                <a:cs typeface="Arial"/>
                <a:sym typeface="Arial"/>
              </a:rPr>
              <a:t>Background/Motivation</a:t>
            </a:r>
            <a:endParaRPr lang="en-US" sz="1400" b="0" i="0" u="none" strike="noStrike" cap="none">
              <a:solidFill>
                <a:schemeClr val="bg2"/>
              </a:solidFill>
              <a:latin typeface="Arial"/>
              <a:ea typeface="Arial"/>
              <a:cs typeface="Arial"/>
            </a:endParaRPr>
          </a:p>
          <a:p>
            <a:pPr marL="0" lvl="0" indent="0" algn="l" rtl="0">
              <a:lnSpc>
                <a:spcPct val="115000"/>
              </a:lnSpc>
              <a:spcBef>
                <a:spcPts val="1200"/>
              </a:spcBef>
              <a:spcAft>
                <a:spcPts val="0"/>
              </a:spcAft>
              <a:buNone/>
            </a:pPr>
            <a:r>
              <a:rPr lang="en-US" sz="2800">
                <a:solidFill>
                  <a:schemeClr val="tx1"/>
                </a:solidFill>
              </a:rPr>
              <a:t>Most existing Gaussian-SLAM implementations are limited to offline, batch processing. They’re not usable in real-time settings due to:</a:t>
            </a:r>
            <a:endParaRPr sz="2800">
              <a:solidFill>
                <a:schemeClr val="tx1"/>
              </a:solidFill>
            </a:endParaRPr>
          </a:p>
          <a:p>
            <a:pPr marL="457200" indent="-406400">
              <a:lnSpc>
                <a:spcPct val="114999"/>
              </a:lnSpc>
              <a:spcBef>
                <a:spcPts val="1200"/>
              </a:spcBef>
              <a:buClr>
                <a:srgbClr val="333333"/>
              </a:buClr>
              <a:buSzPts val="2800"/>
              <a:buChar char="●"/>
            </a:pPr>
            <a:r>
              <a:rPr lang="en-US" sz="2800">
                <a:solidFill>
                  <a:schemeClr val="tx1"/>
                </a:solidFill>
              </a:rPr>
              <a:t>Slow model generation</a:t>
            </a:r>
          </a:p>
          <a:p>
            <a:pPr marL="457200" lvl="0" indent="-406400" algn="l" rtl="0">
              <a:lnSpc>
                <a:spcPct val="115000"/>
              </a:lnSpc>
              <a:spcBef>
                <a:spcPts val="0"/>
              </a:spcBef>
              <a:spcAft>
                <a:spcPts val="0"/>
              </a:spcAft>
              <a:buClr>
                <a:schemeClr val="dk1"/>
              </a:buClr>
              <a:buSzPts val="2800"/>
              <a:buChar char="●"/>
            </a:pPr>
            <a:r>
              <a:rPr lang="en-US" sz="2800">
                <a:solidFill>
                  <a:schemeClr val="tx1"/>
                </a:solidFill>
              </a:rPr>
              <a:t>Difficult configuration of input devices</a:t>
            </a:r>
            <a:endParaRPr sz="2800">
              <a:solidFill>
                <a:schemeClr val="tx1"/>
              </a:solidFill>
            </a:endParaRPr>
          </a:p>
          <a:p>
            <a:pPr marL="457200" lvl="0" indent="-406400" algn="l" rtl="0">
              <a:lnSpc>
                <a:spcPct val="115000"/>
              </a:lnSpc>
              <a:spcBef>
                <a:spcPts val="0"/>
              </a:spcBef>
              <a:spcAft>
                <a:spcPts val="0"/>
              </a:spcAft>
              <a:buClr>
                <a:schemeClr val="dk1"/>
              </a:buClr>
              <a:buSzPts val="2800"/>
              <a:buChar char="●"/>
            </a:pPr>
            <a:r>
              <a:rPr lang="en-US" sz="2800">
                <a:solidFill>
                  <a:schemeClr val="tx1"/>
                </a:solidFill>
              </a:rPr>
              <a:t>Lack of support for real-time depth input</a:t>
            </a:r>
            <a:endParaRPr sz="2800">
              <a:solidFill>
                <a:schemeClr val="tx1"/>
              </a:solidFill>
            </a:endParaRPr>
          </a:p>
          <a:p>
            <a:pPr marL="0" lvl="0" indent="0" algn="l" rtl="0">
              <a:lnSpc>
                <a:spcPct val="115000"/>
              </a:lnSpc>
              <a:spcBef>
                <a:spcPts val="1200"/>
              </a:spcBef>
              <a:spcAft>
                <a:spcPts val="0"/>
              </a:spcAft>
              <a:buNone/>
            </a:pPr>
            <a:r>
              <a:rPr lang="en-US" sz="2800">
                <a:solidFill>
                  <a:schemeClr val="tx1"/>
                </a:solidFill>
              </a:rPr>
              <a:t>There is a growing need for fast, lightweight 3D reconstruction in domains like defense, emergency response, and immersive tech.</a:t>
            </a:r>
            <a:endParaRPr sz="2800">
              <a:solidFill>
                <a:schemeClr val="tx1"/>
              </a:solidFill>
            </a:endParaRPr>
          </a:p>
          <a:p>
            <a:pPr marL="0" marR="0" lvl="0" indent="0" algn="l" rtl="0">
              <a:lnSpc>
                <a:spcPct val="147368"/>
              </a:lnSpc>
              <a:spcBef>
                <a:spcPts val="1200"/>
              </a:spcBef>
              <a:spcAft>
                <a:spcPts val="0"/>
              </a:spcAft>
              <a:buClr>
                <a:srgbClr val="000000"/>
              </a:buClr>
              <a:buSzPts val="3800"/>
              <a:buFont typeface="Arial"/>
              <a:buNone/>
            </a:pPr>
            <a:endParaRPr sz="3800">
              <a:solidFill>
                <a:schemeClr val="dk1"/>
              </a:solidFill>
            </a:endParaRPr>
          </a:p>
        </p:txBody>
      </p:sp>
      <p:sp>
        <p:nvSpPr>
          <p:cNvPr id="49" name="Google Shape;49;p1"/>
          <p:cNvSpPr txBox="1"/>
          <p:nvPr/>
        </p:nvSpPr>
        <p:spPr>
          <a:xfrm>
            <a:off x="1116656" y="13747952"/>
            <a:ext cx="9256800" cy="5438371"/>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833"/>
              </a:lnSpc>
              <a:spcBef>
                <a:spcPts val="0"/>
              </a:spcBef>
              <a:spcAft>
                <a:spcPts val="0"/>
              </a:spcAft>
              <a:buClr>
                <a:srgbClr val="000000"/>
              </a:buClr>
              <a:buSzPts val="4800"/>
              <a:buFont typeface="Arial"/>
              <a:buNone/>
            </a:pPr>
            <a:r>
              <a:rPr lang="en-US" sz="4800" b="1" i="0" u="sng" strike="noStrike" cap="none">
                <a:solidFill>
                  <a:srgbClr val="5D0025"/>
                </a:solidFill>
                <a:latin typeface="Arial"/>
                <a:ea typeface="Arial"/>
                <a:cs typeface="Arial"/>
                <a:sym typeface="Arial"/>
              </a:rPr>
              <a:t>Proposed Solution</a:t>
            </a:r>
            <a:endParaRPr lang="en-US" sz="4800" b="0" i="0" u="none" strike="noStrike" cap="none">
              <a:solidFill>
                <a:srgbClr val="000000"/>
              </a:solidFill>
              <a:latin typeface="Arial"/>
              <a:ea typeface="Arial"/>
              <a:cs typeface="Arial"/>
            </a:endParaRPr>
          </a:p>
          <a:p>
            <a:pPr marL="0" lvl="0" indent="0" algn="l" rtl="0">
              <a:lnSpc>
                <a:spcPct val="115000"/>
              </a:lnSpc>
              <a:spcBef>
                <a:spcPts val="1200"/>
              </a:spcBef>
              <a:spcAft>
                <a:spcPts val="0"/>
              </a:spcAft>
              <a:buNone/>
            </a:pPr>
            <a:r>
              <a:rPr lang="en-US" sz="2800">
                <a:solidFill>
                  <a:schemeClr val="dk1"/>
                </a:solidFill>
              </a:rPr>
              <a:t>We built a real-time SLAM system capable of:</a:t>
            </a:r>
            <a:endParaRPr sz="2800">
              <a:solidFill>
                <a:schemeClr val="dk1"/>
              </a:solidFill>
            </a:endParaRPr>
          </a:p>
          <a:p>
            <a:pPr marL="457200" lvl="0" indent="-298450" algn="l" rtl="0">
              <a:lnSpc>
                <a:spcPct val="115000"/>
              </a:lnSpc>
              <a:spcBef>
                <a:spcPts val="1200"/>
              </a:spcBef>
              <a:spcAft>
                <a:spcPts val="0"/>
              </a:spcAft>
              <a:buSzPts val="1100"/>
              <a:buChar char="●"/>
            </a:pPr>
            <a:r>
              <a:rPr lang="en-US" sz="2800">
                <a:solidFill>
                  <a:schemeClr val="dk1"/>
                </a:solidFill>
              </a:rPr>
              <a:t>Processing live 2D video into 3D Gaussian-Splat meshes</a:t>
            </a:r>
          </a:p>
          <a:p>
            <a:pPr marL="457200" lvl="0" indent="-298450" algn="l" rtl="0">
              <a:lnSpc>
                <a:spcPct val="115000"/>
              </a:lnSpc>
              <a:spcBef>
                <a:spcPts val="0"/>
              </a:spcBef>
              <a:spcAft>
                <a:spcPts val="0"/>
              </a:spcAft>
              <a:buSzPts val="1100"/>
              <a:buChar char="●"/>
            </a:pPr>
            <a:r>
              <a:rPr lang="en-US" sz="2800">
                <a:solidFill>
                  <a:schemeClr val="dk1"/>
                </a:solidFill>
              </a:rPr>
              <a:t>Streaming and rendering partial reconstructions incrementally</a:t>
            </a:r>
          </a:p>
          <a:p>
            <a:pPr marL="457200" indent="-298450">
              <a:lnSpc>
                <a:spcPct val="115000"/>
              </a:lnSpc>
              <a:buSzPts val="1100"/>
              <a:buChar char="●"/>
            </a:pPr>
            <a:r>
              <a:rPr lang="en-US" sz="2800">
                <a:solidFill>
                  <a:schemeClr val="dk1"/>
                </a:solidFill>
              </a:rPr>
              <a:t>Integrating depth data from stereo video</a:t>
            </a:r>
          </a:p>
          <a:p>
            <a:pPr marL="457200" lvl="0" indent="-298450" algn="l" rtl="0">
              <a:lnSpc>
                <a:spcPct val="115000"/>
              </a:lnSpc>
              <a:spcBef>
                <a:spcPts val="0"/>
              </a:spcBef>
              <a:spcAft>
                <a:spcPts val="0"/>
              </a:spcAft>
              <a:buSzPts val="1100"/>
              <a:buChar char="●"/>
            </a:pPr>
            <a:r>
              <a:rPr lang="en-US" sz="2800">
                <a:solidFill>
                  <a:schemeClr val="dk1"/>
                </a:solidFill>
              </a:rPr>
              <a:t>Exporting intermediate results mid-process</a:t>
            </a:r>
            <a:endParaRPr sz="2800">
              <a:solidFill>
                <a:schemeClr val="dk1"/>
              </a:solidFill>
            </a:endParaRPr>
          </a:p>
          <a:p>
            <a:pPr marL="914400" marR="0" lvl="0" indent="0" algn="l" rtl="0">
              <a:lnSpc>
                <a:spcPct val="164285"/>
              </a:lnSpc>
              <a:spcBef>
                <a:spcPts val="1200"/>
              </a:spcBef>
              <a:spcAft>
                <a:spcPts val="0"/>
              </a:spcAft>
              <a:buNone/>
            </a:pPr>
            <a:endParaRPr sz="2800">
              <a:solidFill>
                <a:schemeClr val="dk1"/>
              </a:solidFill>
            </a:endParaRPr>
          </a:p>
        </p:txBody>
      </p:sp>
      <p:sp>
        <p:nvSpPr>
          <p:cNvPr id="50" name="Google Shape;50;p1"/>
          <p:cNvSpPr txBox="1"/>
          <p:nvPr/>
        </p:nvSpPr>
        <p:spPr>
          <a:xfrm>
            <a:off x="11667346" y="6932976"/>
            <a:ext cx="9499800" cy="6429412"/>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833"/>
              </a:lnSpc>
              <a:spcBef>
                <a:spcPts val="0"/>
              </a:spcBef>
              <a:spcAft>
                <a:spcPts val="0"/>
              </a:spcAft>
              <a:buClr>
                <a:srgbClr val="000000"/>
              </a:buClr>
              <a:buSzPts val="4800"/>
              <a:buFont typeface="Arial"/>
              <a:buNone/>
            </a:pPr>
            <a:r>
              <a:rPr lang="en-US" sz="4800" b="1" i="0" u="sng" strike="noStrike" cap="none" dirty="0">
                <a:solidFill>
                  <a:schemeClr val="bg2"/>
                </a:solidFill>
                <a:latin typeface="Arial"/>
                <a:ea typeface="Arial"/>
                <a:cs typeface="Arial"/>
                <a:sym typeface="Arial"/>
              </a:rPr>
              <a:t>System Design</a:t>
            </a:r>
            <a:endParaRPr lang="en-US" sz="1400" b="0" i="0" u="none" strike="noStrike" cap="none" dirty="0">
              <a:solidFill>
                <a:schemeClr val="bg2"/>
              </a:solidFill>
              <a:latin typeface="Arial"/>
              <a:ea typeface="Arial"/>
              <a:cs typeface="Arial"/>
            </a:endParaRPr>
          </a:p>
          <a:p>
            <a:pPr marL="0" lvl="0" indent="0" algn="l" rtl="0">
              <a:lnSpc>
                <a:spcPct val="115000"/>
              </a:lnSpc>
              <a:spcBef>
                <a:spcPts val="1200"/>
              </a:spcBef>
              <a:spcAft>
                <a:spcPts val="0"/>
              </a:spcAft>
              <a:buNone/>
            </a:pPr>
            <a:r>
              <a:rPr lang="en-US" sz="2800" dirty="0">
                <a:solidFill>
                  <a:schemeClr val="tx1"/>
                </a:solidFill>
              </a:rPr>
              <a:t>Our architecture includes:</a:t>
            </a:r>
            <a:endParaRPr sz="2800" dirty="0">
              <a:solidFill>
                <a:schemeClr val="tx1"/>
              </a:solidFill>
            </a:endParaRPr>
          </a:p>
          <a:p>
            <a:pPr marL="457200" lvl="0" indent="-406400" algn="l" rtl="0">
              <a:lnSpc>
                <a:spcPct val="115000"/>
              </a:lnSpc>
              <a:spcBef>
                <a:spcPts val="1200"/>
              </a:spcBef>
              <a:spcAft>
                <a:spcPts val="0"/>
              </a:spcAft>
              <a:buSzPts val="2800"/>
              <a:buChar char="●"/>
            </a:pPr>
            <a:r>
              <a:rPr lang="en-US" sz="2800" b="1" dirty="0">
                <a:solidFill>
                  <a:schemeClr val="tx1"/>
                </a:solidFill>
              </a:rPr>
              <a:t>SLAM Engine</a:t>
            </a:r>
            <a:r>
              <a:rPr lang="en-US" sz="2800" dirty="0">
                <a:solidFill>
                  <a:schemeClr val="tx1"/>
                </a:solidFill>
              </a:rPr>
              <a:t>: Processes frames and generates 3D point clouds</a:t>
            </a:r>
            <a:endParaRPr sz="2800" dirty="0">
              <a:solidFill>
                <a:schemeClr val="tx1"/>
              </a:solidFill>
            </a:endParaRPr>
          </a:p>
          <a:p>
            <a:pPr marL="457200" indent="-406400">
              <a:lnSpc>
                <a:spcPct val="115000"/>
              </a:lnSpc>
              <a:buSzPts val="2800"/>
              <a:buChar char="●"/>
            </a:pPr>
            <a:r>
              <a:rPr lang="en-US" sz="2800" b="1" dirty="0">
                <a:solidFill>
                  <a:schemeClr val="tx1"/>
                </a:solidFill>
              </a:rPr>
              <a:t>Depth Module</a:t>
            </a:r>
            <a:r>
              <a:rPr lang="en-US" sz="2800" dirty="0">
                <a:solidFill>
                  <a:schemeClr val="tx1"/>
                </a:solidFill>
              </a:rPr>
              <a:t>: Using machine learning with temporal smoothing to ensure accuracy</a:t>
            </a:r>
          </a:p>
          <a:p>
            <a:pPr marL="457200" lvl="0" indent="-406400" algn="l" rtl="0">
              <a:lnSpc>
                <a:spcPct val="115000"/>
              </a:lnSpc>
              <a:spcBef>
                <a:spcPts val="0"/>
              </a:spcBef>
              <a:spcAft>
                <a:spcPts val="0"/>
              </a:spcAft>
              <a:buSzPts val="2800"/>
              <a:buChar char="●"/>
            </a:pPr>
            <a:r>
              <a:rPr lang="en-US" sz="2800" b="1" dirty="0">
                <a:solidFill>
                  <a:schemeClr val="tx1"/>
                </a:solidFill>
              </a:rPr>
              <a:t>Streaming Client</a:t>
            </a:r>
            <a:r>
              <a:rPr lang="en-US" sz="2800" dirty="0">
                <a:solidFill>
                  <a:schemeClr val="tx1"/>
                </a:solidFill>
              </a:rPr>
              <a:t>: Sends real-time data from camera to SLAM engine</a:t>
            </a:r>
            <a:endParaRPr sz="2800" dirty="0">
              <a:solidFill>
                <a:schemeClr val="tx1"/>
              </a:solidFill>
            </a:endParaRPr>
          </a:p>
          <a:p>
            <a:pPr marL="457200" indent="-406400">
              <a:lnSpc>
                <a:spcPct val="115000"/>
              </a:lnSpc>
              <a:buSzPts val="2800"/>
              <a:buChar char="●"/>
            </a:pPr>
            <a:r>
              <a:rPr lang="en-US" sz="2800" b="1" dirty="0">
                <a:solidFill>
                  <a:schemeClr val="tx1"/>
                </a:solidFill>
              </a:rPr>
              <a:t>Live Reconstruction</a:t>
            </a:r>
            <a:r>
              <a:rPr lang="en-US" sz="2800" dirty="0">
                <a:solidFill>
                  <a:schemeClr val="tx1"/>
                </a:solidFill>
              </a:rPr>
              <a:t>: Visualizes model generation in real time</a:t>
            </a:r>
          </a:p>
          <a:p>
            <a:pPr marL="914400" marR="0" lvl="0" indent="0" algn="l" rtl="0">
              <a:lnSpc>
                <a:spcPct val="164285"/>
              </a:lnSpc>
              <a:spcBef>
                <a:spcPts val="1200"/>
              </a:spcBef>
              <a:spcAft>
                <a:spcPts val="0"/>
              </a:spcAft>
              <a:buNone/>
            </a:pPr>
            <a:endParaRPr sz="2800">
              <a:solidFill>
                <a:schemeClr val="tx1"/>
              </a:solidFill>
            </a:endParaRPr>
          </a:p>
        </p:txBody>
      </p:sp>
      <p:sp>
        <p:nvSpPr>
          <p:cNvPr id="51" name="Google Shape;51;p1"/>
          <p:cNvSpPr txBox="1"/>
          <p:nvPr/>
        </p:nvSpPr>
        <p:spPr>
          <a:xfrm>
            <a:off x="33153045" y="15131977"/>
            <a:ext cx="9562200" cy="7986761"/>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833"/>
              </a:lnSpc>
              <a:spcBef>
                <a:spcPts val="0"/>
              </a:spcBef>
              <a:spcAft>
                <a:spcPts val="0"/>
              </a:spcAft>
              <a:buClr>
                <a:srgbClr val="000000"/>
              </a:buClr>
              <a:buSzPts val="4800"/>
              <a:buFont typeface="Arial"/>
              <a:buNone/>
            </a:pPr>
            <a:r>
              <a:rPr lang="en-US" sz="4800" b="1" i="0" u="sng" strike="noStrike" cap="none">
                <a:solidFill>
                  <a:schemeClr val="bg2"/>
                </a:solidFill>
                <a:latin typeface="Arial"/>
                <a:ea typeface="Arial"/>
                <a:cs typeface="Arial"/>
                <a:sym typeface="Arial"/>
              </a:rPr>
              <a:t>Impact </a:t>
            </a:r>
            <a:endParaRPr lang="en-US" sz="4800" b="0" i="0" u="none" strike="noStrike" cap="none">
              <a:solidFill>
                <a:schemeClr val="bg2"/>
              </a:solidFill>
              <a:latin typeface="Arial"/>
              <a:ea typeface="Arial"/>
              <a:cs typeface="Arial"/>
            </a:endParaRPr>
          </a:p>
          <a:p>
            <a:pPr marL="914400" lvl="1" indent="-533400" algn="l" rtl="0">
              <a:lnSpc>
                <a:spcPct val="115000"/>
              </a:lnSpc>
              <a:spcBef>
                <a:spcPts val="1200"/>
              </a:spcBef>
              <a:spcAft>
                <a:spcPts val="0"/>
              </a:spcAft>
              <a:buSzPts val="4800"/>
              <a:buChar char="•"/>
            </a:pPr>
            <a:r>
              <a:rPr lang="en-US" sz="2800" b="1">
                <a:solidFill>
                  <a:schemeClr val="tx1"/>
                </a:solidFill>
              </a:rPr>
              <a:t>Real-time Reconstruction:</a:t>
            </a:r>
            <a:r>
              <a:rPr lang="en-US" sz="2800">
                <a:solidFill>
                  <a:schemeClr val="tx1"/>
                </a:solidFill>
              </a:rPr>
              <a:t> Enables field deployment for defense, emergency response, and immersive experiences.</a:t>
            </a:r>
          </a:p>
          <a:p>
            <a:pPr marL="914400" lvl="1" indent="-533400" algn="l" rtl="0">
              <a:lnSpc>
                <a:spcPct val="115000"/>
              </a:lnSpc>
              <a:spcBef>
                <a:spcPts val="0"/>
              </a:spcBef>
              <a:spcAft>
                <a:spcPts val="0"/>
              </a:spcAft>
              <a:buSzPts val="4800"/>
              <a:buChar char="•"/>
            </a:pPr>
            <a:r>
              <a:rPr lang="en-US" sz="2800" b="1">
                <a:solidFill>
                  <a:schemeClr val="tx1"/>
                </a:solidFill>
              </a:rPr>
              <a:t>Accessible Visualization:</a:t>
            </a:r>
            <a:r>
              <a:rPr lang="en-US" sz="2800">
                <a:solidFill>
                  <a:schemeClr val="tx1"/>
                </a:solidFill>
              </a:rPr>
              <a:t> Users can analyze partial models without waiting for full SLAM completion.</a:t>
            </a:r>
          </a:p>
          <a:p>
            <a:pPr marL="914400" lvl="1" indent="-533400" algn="l" rtl="0">
              <a:lnSpc>
                <a:spcPct val="115000"/>
              </a:lnSpc>
              <a:spcBef>
                <a:spcPts val="0"/>
              </a:spcBef>
              <a:spcAft>
                <a:spcPts val="0"/>
              </a:spcAft>
              <a:buSzPts val="4800"/>
              <a:buChar char="•"/>
            </a:pPr>
            <a:r>
              <a:rPr lang="en-US" sz="2800" b="1">
                <a:solidFill>
                  <a:schemeClr val="tx1"/>
                </a:solidFill>
              </a:rPr>
              <a:t>Extensible Design:</a:t>
            </a:r>
            <a:r>
              <a:rPr lang="en-US" sz="2800">
                <a:solidFill>
                  <a:schemeClr val="tx1"/>
                </a:solidFill>
              </a:rPr>
              <a:t> System can easily incorporate advanced ML-based depth enhancements and additional sensors in the future.</a:t>
            </a:r>
          </a:p>
          <a:p>
            <a:pPr marL="914400" lvl="1" indent="-533400">
              <a:lnSpc>
                <a:spcPct val="115000"/>
              </a:lnSpc>
              <a:buSzPts val="4800"/>
              <a:buChar char="•"/>
            </a:pPr>
            <a:r>
              <a:rPr lang="en-US" sz="2800" b="1">
                <a:solidFill>
                  <a:schemeClr val="tx1"/>
                </a:solidFill>
              </a:rPr>
              <a:t>Operational Scalability:</a:t>
            </a:r>
            <a:r>
              <a:rPr lang="en-US" sz="2800">
                <a:solidFill>
                  <a:schemeClr val="tx1"/>
                </a:solidFill>
              </a:rPr>
              <a:t> Ready to scale across cloud-based infrastructure or edge devices.</a:t>
            </a:r>
          </a:p>
          <a:p>
            <a:pPr marL="914400" lvl="0" indent="0" algn="l" rtl="0">
              <a:lnSpc>
                <a:spcPct val="115000"/>
              </a:lnSpc>
              <a:spcBef>
                <a:spcPts val="1200"/>
              </a:spcBef>
              <a:spcAft>
                <a:spcPts val="0"/>
              </a:spcAft>
              <a:buNone/>
            </a:pPr>
            <a:br>
              <a:rPr lang="en-US" sz="3200"/>
            </a:br>
            <a:endParaRPr lang="en-US" sz="2800">
              <a:solidFill>
                <a:schemeClr val="tx1"/>
              </a:solidFill>
            </a:endParaRPr>
          </a:p>
          <a:p>
            <a:pPr marL="914400" marR="0" lvl="0" indent="0" algn="l" rtl="0">
              <a:lnSpc>
                <a:spcPct val="164285"/>
              </a:lnSpc>
              <a:spcBef>
                <a:spcPts val="1200"/>
              </a:spcBef>
              <a:spcAft>
                <a:spcPts val="0"/>
              </a:spcAft>
              <a:buNone/>
            </a:pPr>
            <a:endParaRPr lang="en-US" sz="2800" b="0" i="0" u="none" strike="noStrike" cap="none">
              <a:solidFill>
                <a:schemeClr val="tx1"/>
              </a:solidFill>
              <a:latin typeface="Arial"/>
              <a:ea typeface="Arial"/>
              <a:cs typeface="Arial"/>
            </a:endParaRPr>
          </a:p>
        </p:txBody>
      </p:sp>
      <p:sp>
        <p:nvSpPr>
          <p:cNvPr id="52" name="Google Shape;52;p1"/>
          <p:cNvSpPr txBox="1"/>
          <p:nvPr/>
        </p:nvSpPr>
        <p:spPr>
          <a:xfrm>
            <a:off x="32966727" y="21587149"/>
            <a:ext cx="10705800" cy="6746743"/>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000"/>
              </a:lnSpc>
              <a:spcBef>
                <a:spcPts val="0"/>
              </a:spcBef>
              <a:spcAft>
                <a:spcPts val="0"/>
              </a:spcAft>
              <a:buClr>
                <a:srgbClr val="000000"/>
              </a:buClr>
              <a:buSzPts val="4000"/>
              <a:buFont typeface="Arial"/>
              <a:buNone/>
            </a:pPr>
            <a:r>
              <a:rPr lang="en-US" sz="4800" b="1" i="0" u="sng" strike="noStrike" cap="none">
                <a:solidFill>
                  <a:srgbClr val="5D0025"/>
                </a:solidFill>
                <a:latin typeface="Arial"/>
                <a:ea typeface="Arial"/>
                <a:cs typeface="Arial"/>
                <a:sym typeface="Arial"/>
              </a:rPr>
              <a:t>References</a:t>
            </a:r>
            <a:endParaRPr sz="4800" b="0" i="0" u="sng" strike="noStrike" cap="none">
              <a:solidFill>
                <a:srgbClr val="5D0025"/>
              </a:solidFill>
              <a:latin typeface="Arial"/>
              <a:ea typeface="Arial"/>
              <a:cs typeface="Arial"/>
              <a:sym typeface="Arial"/>
            </a:endParaRPr>
          </a:p>
          <a:p>
            <a:pPr marL="457200" marR="0" lvl="0" indent="0" algn="l" rtl="0">
              <a:lnSpc>
                <a:spcPct val="158333"/>
              </a:lnSpc>
              <a:spcBef>
                <a:spcPts val="1200"/>
              </a:spcBef>
              <a:spcAft>
                <a:spcPts val="0"/>
              </a:spcAft>
              <a:buNone/>
            </a:pPr>
            <a:r>
              <a:rPr lang="en-US" sz="2400" b="0" i="0" u="none" strike="noStrike" cap="none">
                <a:solidFill>
                  <a:schemeClr val="dk1"/>
                </a:solidFill>
                <a:latin typeface="Arial"/>
                <a:ea typeface="Arial"/>
                <a:cs typeface="Arial"/>
                <a:sym typeface="Arial"/>
              </a:rPr>
              <a:t> </a:t>
            </a:r>
            <a:r>
              <a:rPr lang="en-US" sz="1800">
                <a:solidFill>
                  <a:schemeClr val="dk1"/>
                </a:solidFill>
              </a:rPr>
              <a:t> </a:t>
            </a:r>
            <a:endParaRPr sz="1800">
              <a:solidFill>
                <a:schemeClr val="dk1"/>
              </a:solidFill>
            </a:endParaRPr>
          </a:p>
          <a:p>
            <a:pPr marL="457200" indent="-342900">
              <a:lnSpc>
                <a:spcPct val="115000"/>
              </a:lnSpc>
              <a:spcBef>
                <a:spcPts val="1200"/>
              </a:spcBef>
              <a:buSzPts val="1800"/>
              <a:buAutoNum type="arabicPeriod"/>
            </a:pPr>
            <a:r>
              <a:rPr lang="en-US" sz="2200"/>
              <a:t>Bermudez, L. (2024, April 23). </a:t>
            </a:r>
            <a:r>
              <a:rPr lang="en-US" sz="2200" i="1"/>
              <a:t>Overview of slam</a:t>
            </a:r>
            <a:r>
              <a:rPr lang="en-US" sz="2200"/>
              <a:t>. Medium. https://medium.com/machinevision/overview-of-slam-50b7f49903b7 </a:t>
            </a:r>
          </a:p>
          <a:p>
            <a:pPr marL="457200" indent="-342900">
              <a:lnSpc>
                <a:spcPct val="114999"/>
              </a:lnSpc>
              <a:buSzPts val="1800"/>
              <a:buAutoNum type="arabicPeriod"/>
            </a:pPr>
            <a:r>
              <a:rPr lang="en-US" sz="2200" i="1" err="1"/>
              <a:t>Opencv</a:t>
            </a:r>
            <a:r>
              <a:rPr lang="en-US" sz="2200" i="1"/>
              <a:t>-python</a:t>
            </a:r>
            <a:r>
              <a:rPr lang="en-US" sz="2200"/>
              <a:t>. </a:t>
            </a:r>
            <a:r>
              <a:rPr lang="en-US" sz="2200" err="1"/>
              <a:t>PyPI</a:t>
            </a:r>
            <a:r>
              <a:rPr lang="en-US" sz="2200"/>
              <a:t>. (n.d.). https://pypi.org/project/opencv-python/ </a:t>
            </a:r>
          </a:p>
          <a:p>
            <a:pPr marL="457200" indent="-342900">
              <a:lnSpc>
                <a:spcPct val="114999"/>
              </a:lnSpc>
              <a:buSzPts val="1800"/>
              <a:buAutoNum type="arabicPeriod"/>
            </a:pPr>
            <a:r>
              <a:rPr lang="en-US" sz="2200"/>
              <a:t>Pan, G., Sun, T., Weed, T., &amp; Scharstein, D. (2021, November 22). 2021 stereo datasets. https://vision.middlebury.edu/stereo/data/scenes2021/ </a:t>
            </a:r>
          </a:p>
          <a:p>
            <a:pPr marL="457200" indent="-342900">
              <a:lnSpc>
                <a:spcPct val="114999"/>
              </a:lnSpc>
              <a:buSzPts val="1800"/>
              <a:buAutoNum type="arabicPeriod"/>
            </a:pPr>
            <a:r>
              <a:rPr lang="en-US" sz="2200" err="1"/>
              <a:t>Sadekar</a:t>
            </a:r>
            <a:r>
              <a:rPr lang="en-US" sz="2200"/>
              <a:t>, K. (2022b, December 14). </a:t>
            </a:r>
            <a:r>
              <a:rPr lang="en-US" sz="2200" i="1"/>
              <a:t>Stereo camera depth estimation with </a:t>
            </a:r>
            <a:r>
              <a:rPr lang="en-US" sz="2200" i="1" err="1"/>
              <a:t>opencv</a:t>
            </a:r>
            <a:r>
              <a:rPr lang="en-US" sz="2200" i="1"/>
              <a:t> (python/C++)</a:t>
            </a:r>
            <a:r>
              <a:rPr lang="en-US" sz="2200"/>
              <a:t>. </a:t>
            </a:r>
            <a:r>
              <a:rPr lang="en-US" sz="2200" err="1"/>
              <a:t>LearnOpenCV</a:t>
            </a:r>
            <a:r>
              <a:rPr lang="en-US" sz="2200"/>
              <a:t>. https://learnopencv.com/depth-perception-using-stereo-camera-python-c/ </a:t>
            </a:r>
          </a:p>
          <a:p>
            <a:pPr marL="457200" indent="-342900">
              <a:lnSpc>
                <a:spcPct val="114999"/>
              </a:lnSpc>
              <a:buSzPts val="1800"/>
              <a:buAutoNum type="arabicPeriod"/>
            </a:pPr>
            <a:r>
              <a:rPr lang="en-US" sz="2200" i="1"/>
              <a:t>The Definitive Guide to SLAM Technology &amp; Slam devices</a:t>
            </a:r>
            <a:r>
              <a:rPr lang="en-US" sz="2200"/>
              <a:t>. </a:t>
            </a:r>
            <a:r>
              <a:rPr lang="en-US" sz="2200" err="1"/>
              <a:t>NavVis</a:t>
            </a:r>
            <a:r>
              <a:rPr lang="en-US" sz="2200"/>
              <a:t>. (n.d.). https://www.navvis.com/technology/slam </a:t>
            </a:r>
          </a:p>
          <a:p>
            <a:pPr marL="457200" indent="-342900">
              <a:lnSpc>
                <a:spcPct val="114999"/>
              </a:lnSpc>
              <a:buSzPts val="1800"/>
              <a:buAutoNum type="arabicPeriod"/>
            </a:pPr>
            <a:r>
              <a:rPr lang="en-US" sz="2200" i="1"/>
              <a:t>What is SLAM (simultaneous localization and mapping) – </a:t>
            </a:r>
            <a:r>
              <a:rPr lang="en-US" sz="2200" i="1" err="1"/>
              <a:t>matlab</a:t>
            </a:r>
            <a:r>
              <a:rPr lang="en-US" sz="2200" i="1"/>
              <a:t> &amp; </a:t>
            </a:r>
            <a:r>
              <a:rPr lang="en-US" sz="2200" i="1" err="1"/>
              <a:t>simulink</a:t>
            </a:r>
            <a:r>
              <a:rPr lang="en-US" sz="2200"/>
              <a:t>. What Is SLAM (Simultaneous Localization and Mapping) – MATLAB &amp; Simulink - MATLAB &amp; Simulink. (n.d.). https://www.mathworks.com/discovery/slam.html </a:t>
            </a:r>
            <a:endParaRPr lang="en-US" sz="2200" b="0" i="0" u="none" strike="noStrike" cap="none">
              <a:solidFill>
                <a:srgbClr val="000000"/>
              </a:solidFill>
              <a:latin typeface="Arial"/>
              <a:ea typeface="Arial"/>
              <a:cs typeface="Arial"/>
            </a:endParaRPr>
          </a:p>
        </p:txBody>
      </p:sp>
      <p:sp>
        <p:nvSpPr>
          <p:cNvPr id="53" name="Google Shape;53;p1"/>
          <p:cNvSpPr txBox="1"/>
          <p:nvPr/>
        </p:nvSpPr>
        <p:spPr>
          <a:xfrm>
            <a:off x="22522952" y="12989746"/>
            <a:ext cx="9829800" cy="523200"/>
          </a:xfrm>
          <a:prstGeom prst="rect">
            <a:avLst/>
          </a:prstGeom>
          <a:solidFill>
            <a:schemeClr val="lt1">
              <a:alpha val="41176"/>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i="1">
                <a:solidFill>
                  <a:schemeClr val="dk1"/>
                </a:solidFill>
              </a:rPr>
              <a:t>PSMR (Peak Signal to Noise Ratio)</a:t>
            </a:r>
            <a:endParaRPr sz="1400" b="0" i="0" u="none" strike="noStrike" cap="none">
              <a:solidFill>
                <a:srgbClr val="000000"/>
              </a:solidFill>
              <a:latin typeface="Arial"/>
              <a:ea typeface="Arial"/>
              <a:cs typeface="Arial"/>
              <a:sym typeface="Arial"/>
            </a:endParaRPr>
          </a:p>
        </p:txBody>
      </p:sp>
      <p:sp>
        <p:nvSpPr>
          <p:cNvPr id="54" name="Google Shape;54;p1"/>
          <p:cNvSpPr txBox="1"/>
          <p:nvPr/>
        </p:nvSpPr>
        <p:spPr>
          <a:xfrm>
            <a:off x="22685200" y="18536788"/>
            <a:ext cx="4672200" cy="954300"/>
          </a:xfrm>
          <a:prstGeom prst="rect">
            <a:avLst/>
          </a:prstGeom>
          <a:solidFill>
            <a:schemeClr val="lt1">
              <a:alpha val="41176"/>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i="1">
                <a:solidFill>
                  <a:schemeClr val="dk1"/>
                </a:solidFill>
              </a:rPr>
              <a:t>SSIM (Structural Similarity Index)</a:t>
            </a:r>
            <a:endParaRPr sz="1400" b="0" i="0" u="none" strike="noStrike" cap="none">
              <a:solidFill>
                <a:srgbClr val="000000"/>
              </a:solidFill>
              <a:latin typeface="Arial"/>
              <a:ea typeface="Arial"/>
              <a:cs typeface="Arial"/>
              <a:sym typeface="Arial"/>
            </a:endParaRPr>
          </a:p>
        </p:txBody>
      </p:sp>
      <p:sp>
        <p:nvSpPr>
          <p:cNvPr id="55" name="Google Shape;55;p1"/>
          <p:cNvSpPr txBox="1"/>
          <p:nvPr/>
        </p:nvSpPr>
        <p:spPr>
          <a:xfrm>
            <a:off x="33028833" y="29164295"/>
            <a:ext cx="10705800" cy="1822638"/>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000"/>
              </a:lnSpc>
              <a:spcBef>
                <a:spcPts val="0"/>
              </a:spcBef>
              <a:spcAft>
                <a:spcPts val="0"/>
              </a:spcAft>
              <a:buClr>
                <a:srgbClr val="000000"/>
              </a:buClr>
              <a:buSzPts val="4000"/>
              <a:buFont typeface="Arial"/>
              <a:buNone/>
            </a:pPr>
            <a:r>
              <a:rPr lang="en-US" sz="2800" b="1" i="0" u="sng" strike="noStrike" cap="none">
                <a:solidFill>
                  <a:srgbClr val="5D0025"/>
                </a:solidFill>
                <a:latin typeface="Arial"/>
                <a:ea typeface="Arial"/>
                <a:cs typeface="Arial"/>
                <a:sym typeface="Arial"/>
              </a:rPr>
              <a:t>Acknowledgements</a:t>
            </a:r>
            <a:endParaRPr sz="2800" b="0" i="0" u="sng" strike="noStrike" cap="none">
              <a:solidFill>
                <a:srgbClr val="5D0025"/>
              </a:solidFill>
              <a:latin typeface="Arial"/>
              <a:ea typeface="Arial"/>
              <a:cs typeface="Arial"/>
              <a:sym typeface="Arial"/>
            </a:endParaRPr>
          </a:p>
          <a:p>
            <a:pPr marL="0" marR="0" lvl="0" indent="0" algn="l" rtl="0">
              <a:lnSpc>
                <a:spcPct val="158333"/>
              </a:lnSpc>
              <a:spcBef>
                <a:spcPts val="1200"/>
              </a:spcBef>
              <a:spcAft>
                <a:spcPts val="0"/>
              </a:spcAft>
              <a:buClr>
                <a:srgbClr val="000000"/>
              </a:buClr>
              <a:buSzPts val="2400"/>
              <a:buFont typeface="Arial"/>
              <a:buNone/>
            </a:pPr>
            <a:r>
              <a:rPr lang="en-US" sz="2400">
                <a:solidFill>
                  <a:schemeClr val="dk1"/>
                </a:solidFill>
              </a:rPr>
              <a:t>Thank you to Zachary Handshoe and the team at </a:t>
            </a:r>
            <a:r>
              <a:rPr lang="en-US" sz="2400" err="1">
                <a:solidFill>
                  <a:schemeClr val="dk1"/>
                </a:solidFill>
              </a:rPr>
              <a:t>SpatialGen</a:t>
            </a:r>
            <a:r>
              <a:rPr lang="en-US" sz="2400">
                <a:solidFill>
                  <a:schemeClr val="dk1"/>
                </a:solidFill>
              </a:rPr>
              <a:t> for making this possible!</a:t>
            </a:r>
            <a:endParaRPr sz="1400" b="0" i="0" u="none" strike="noStrike" cap="none">
              <a:solidFill>
                <a:schemeClr val="dk1"/>
              </a:solidFill>
              <a:latin typeface="Arial"/>
              <a:ea typeface="Arial"/>
              <a:cs typeface="Arial"/>
              <a:sym typeface="Arial"/>
            </a:endParaRPr>
          </a:p>
        </p:txBody>
      </p:sp>
      <p:sp>
        <p:nvSpPr>
          <p:cNvPr id="56" name="Google Shape;56;p1"/>
          <p:cNvSpPr txBox="1"/>
          <p:nvPr/>
        </p:nvSpPr>
        <p:spPr>
          <a:xfrm>
            <a:off x="32853121" y="10158400"/>
            <a:ext cx="9829801" cy="523220"/>
          </a:xfrm>
          <a:prstGeom prst="rect">
            <a:avLst/>
          </a:prstGeom>
          <a:solidFill>
            <a:schemeClr val="lt1">
              <a:alpha val="41176"/>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i="1">
                <a:solidFill>
                  <a:schemeClr val="dk1"/>
                </a:solidFill>
              </a:rPr>
              <a:t>Aligned ATE Data</a:t>
            </a:r>
            <a:r>
              <a:rPr lang="en-US" sz="2800" b="0" i="1"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57" name="Google Shape;57;p1"/>
          <p:cNvSpPr txBox="1"/>
          <p:nvPr/>
        </p:nvSpPr>
        <p:spPr>
          <a:xfrm>
            <a:off x="33155447" y="11196151"/>
            <a:ext cx="9421200" cy="3625632"/>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164285"/>
              </a:lnSpc>
              <a:spcBef>
                <a:spcPts val="0"/>
              </a:spcBef>
              <a:spcAft>
                <a:spcPts val="0"/>
              </a:spcAft>
              <a:buClr>
                <a:srgbClr val="000000"/>
              </a:buClr>
              <a:buSzPts val="2800"/>
              <a:buFont typeface="Arial"/>
              <a:buNone/>
            </a:pPr>
            <a:r>
              <a:rPr lang="en-US" sz="2800">
                <a:solidFill>
                  <a:schemeClr val="tx1"/>
                </a:solidFill>
              </a:rPr>
              <a:t>This is a summary of Aligned Absolute Trajectory Error (ATE). This shows low RMSE, mean, and standard deviation values. This is indicative of high accuracy and minimal errors which is in line with accurate estimated camera pose in comparison to the reference trajectory.</a:t>
            </a:r>
            <a:endParaRPr lang="en-US" sz="2800" b="0" i="0" u="none" strike="noStrike" cap="none">
              <a:solidFill>
                <a:schemeClr val="tx1"/>
              </a:solidFill>
              <a:latin typeface="Arial"/>
              <a:ea typeface="Arial"/>
              <a:cs typeface="Arial"/>
            </a:endParaRPr>
          </a:p>
        </p:txBody>
      </p:sp>
      <p:sp>
        <p:nvSpPr>
          <p:cNvPr id="59" name="Google Shape;59;p1"/>
          <p:cNvSpPr txBox="1"/>
          <p:nvPr/>
        </p:nvSpPr>
        <p:spPr>
          <a:xfrm>
            <a:off x="1104852" y="19802381"/>
            <a:ext cx="9256800" cy="4447331"/>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833"/>
              </a:lnSpc>
              <a:spcBef>
                <a:spcPts val="0"/>
              </a:spcBef>
              <a:spcAft>
                <a:spcPts val="0"/>
              </a:spcAft>
              <a:buClr>
                <a:srgbClr val="000000"/>
              </a:buClr>
              <a:buSzPts val="4800"/>
              <a:buFont typeface="Arial"/>
              <a:buNone/>
            </a:pPr>
            <a:r>
              <a:rPr lang="en-US" sz="4800" b="1" i="0" u="sng" strike="noStrike" cap="none">
                <a:solidFill>
                  <a:srgbClr val="5D0025"/>
                </a:solidFill>
                <a:latin typeface="Arial"/>
                <a:ea typeface="Arial"/>
                <a:cs typeface="Arial"/>
                <a:sym typeface="Arial"/>
              </a:rPr>
              <a:t>End Results</a:t>
            </a:r>
            <a:endParaRPr lang="en-US" sz="4800" b="0" i="0" u="none" strike="noStrike" cap="none">
              <a:solidFill>
                <a:srgbClr val="000000"/>
              </a:solidFill>
              <a:latin typeface="Arial"/>
              <a:ea typeface="Arial"/>
              <a:cs typeface="Arial"/>
            </a:endParaRPr>
          </a:p>
          <a:p>
            <a:pPr marL="0" lvl="0" indent="0" algn="l" rtl="0">
              <a:lnSpc>
                <a:spcPct val="115000"/>
              </a:lnSpc>
              <a:spcBef>
                <a:spcPts val="1200"/>
              </a:spcBef>
              <a:spcAft>
                <a:spcPts val="0"/>
              </a:spcAft>
              <a:buNone/>
            </a:pPr>
            <a:r>
              <a:rPr lang="en-US" sz="2800">
                <a:solidFill>
                  <a:schemeClr val="dk1"/>
                </a:solidFill>
              </a:rPr>
              <a:t>We achieved a working, real-time SLAM system with:</a:t>
            </a:r>
            <a:endParaRPr sz="2800">
              <a:solidFill>
                <a:schemeClr val="dk1"/>
              </a:solidFill>
            </a:endParaRPr>
          </a:p>
          <a:p>
            <a:pPr marL="457200" lvl="0" indent="-323850" algn="l" rtl="0">
              <a:lnSpc>
                <a:spcPct val="115000"/>
              </a:lnSpc>
              <a:spcBef>
                <a:spcPts val="1200"/>
              </a:spcBef>
              <a:spcAft>
                <a:spcPts val="0"/>
              </a:spcAft>
              <a:buSzPts val="1500"/>
              <a:buChar char="●"/>
            </a:pPr>
            <a:r>
              <a:rPr lang="en-US" sz="2800">
                <a:solidFill>
                  <a:schemeClr val="dk1"/>
                </a:solidFill>
              </a:rPr>
              <a:t>Integrated depth input</a:t>
            </a:r>
            <a:endParaRPr sz="2800">
              <a:solidFill>
                <a:schemeClr val="dk1"/>
              </a:solidFill>
            </a:endParaRPr>
          </a:p>
          <a:p>
            <a:pPr marL="457200" lvl="0" indent="-323850" algn="l" rtl="0">
              <a:lnSpc>
                <a:spcPct val="115000"/>
              </a:lnSpc>
              <a:spcBef>
                <a:spcPts val="0"/>
              </a:spcBef>
              <a:spcAft>
                <a:spcPts val="0"/>
              </a:spcAft>
              <a:buSzPts val="1500"/>
              <a:buChar char="●"/>
            </a:pPr>
            <a:r>
              <a:rPr lang="en-US" sz="2800">
                <a:solidFill>
                  <a:schemeClr val="dk1"/>
                </a:solidFill>
              </a:rPr>
              <a:t>Frame-by-frame reconstruction</a:t>
            </a:r>
            <a:endParaRPr sz="2800">
              <a:solidFill>
                <a:schemeClr val="dk1"/>
              </a:solidFill>
            </a:endParaRPr>
          </a:p>
          <a:p>
            <a:pPr marL="457200" lvl="0" indent="-323850" algn="l" rtl="0">
              <a:lnSpc>
                <a:spcPct val="115000"/>
              </a:lnSpc>
              <a:spcBef>
                <a:spcPts val="0"/>
              </a:spcBef>
              <a:spcAft>
                <a:spcPts val="0"/>
              </a:spcAft>
              <a:buSzPts val="1500"/>
              <a:buChar char="●"/>
            </a:pPr>
            <a:r>
              <a:rPr lang="en-US" sz="2800">
                <a:solidFill>
                  <a:schemeClr val="dk1"/>
                </a:solidFill>
              </a:rPr>
              <a:t>Support for live video streams and partial output</a:t>
            </a:r>
            <a:endParaRPr sz="2800">
              <a:solidFill>
                <a:schemeClr val="dk1"/>
              </a:solidFill>
            </a:endParaRPr>
          </a:p>
          <a:p>
            <a:pPr marL="457200" lvl="0" indent="-323850" algn="l" rtl="0">
              <a:lnSpc>
                <a:spcPct val="115000"/>
              </a:lnSpc>
              <a:spcBef>
                <a:spcPts val="0"/>
              </a:spcBef>
              <a:spcAft>
                <a:spcPts val="0"/>
              </a:spcAft>
              <a:buSzPts val="1500"/>
              <a:buChar char="●"/>
            </a:pPr>
            <a:r>
              <a:rPr lang="en-US" sz="2800">
                <a:solidFill>
                  <a:schemeClr val="dk1"/>
                </a:solidFill>
              </a:rPr>
              <a:t>Compatibility with diverse environments</a:t>
            </a:r>
            <a:endParaRPr sz="2800">
              <a:solidFill>
                <a:schemeClr val="dk1"/>
              </a:solidFill>
            </a:endParaRPr>
          </a:p>
          <a:p>
            <a:pPr marL="0" marR="0" lvl="0" indent="0" algn="l" rtl="0">
              <a:lnSpc>
                <a:spcPct val="164285"/>
              </a:lnSpc>
              <a:spcBef>
                <a:spcPts val="1200"/>
              </a:spcBef>
              <a:spcAft>
                <a:spcPts val="0"/>
              </a:spcAft>
              <a:buClr>
                <a:srgbClr val="000000"/>
              </a:buClr>
              <a:buSzPts val="2800"/>
              <a:buFont typeface="Arial"/>
              <a:buNone/>
            </a:pPr>
            <a:endParaRPr sz="2800">
              <a:solidFill>
                <a:schemeClr val="dk1"/>
              </a:solidFill>
            </a:endParaRPr>
          </a:p>
        </p:txBody>
      </p:sp>
      <p:sp>
        <p:nvSpPr>
          <p:cNvPr id="60" name="Google Shape;60;p1"/>
          <p:cNvSpPr txBox="1"/>
          <p:nvPr/>
        </p:nvSpPr>
        <p:spPr>
          <a:xfrm>
            <a:off x="22522942" y="7060727"/>
            <a:ext cx="9499800" cy="1308600"/>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95833"/>
              </a:lnSpc>
              <a:spcBef>
                <a:spcPts val="0"/>
              </a:spcBef>
              <a:spcAft>
                <a:spcPts val="0"/>
              </a:spcAft>
              <a:buClr>
                <a:srgbClr val="000000"/>
              </a:buClr>
              <a:buSzPts val="4800"/>
              <a:buFont typeface="Arial"/>
              <a:buNone/>
            </a:pPr>
            <a:r>
              <a:rPr lang="en-US" sz="4800" b="1" i="0" u="sng" strike="noStrike" cap="none">
                <a:solidFill>
                  <a:srgbClr val="5D0025"/>
                </a:solidFill>
                <a:latin typeface="Arial"/>
                <a:ea typeface="Arial"/>
                <a:cs typeface="Arial"/>
                <a:sym typeface="Arial"/>
              </a:rPr>
              <a:t>Quantitative Results</a:t>
            </a:r>
            <a:endParaRPr sz="1400" b="0" i="0" u="none" strike="noStrike" cap="none">
              <a:solidFill>
                <a:srgbClr val="000000"/>
              </a:solidFill>
              <a:latin typeface="Arial"/>
              <a:ea typeface="Arial"/>
              <a:cs typeface="Arial"/>
              <a:sym typeface="Arial"/>
            </a:endParaRPr>
          </a:p>
          <a:p>
            <a:pPr marL="0" marR="0" lvl="0" indent="0" algn="l" rtl="0">
              <a:lnSpc>
                <a:spcPct val="164285"/>
              </a:lnSpc>
              <a:spcBef>
                <a:spcPts val="12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
          <p:cNvSpPr txBox="1"/>
          <p:nvPr/>
        </p:nvSpPr>
        <p:spPr>
          <a:xfrm>
            <a:off x="899112" y="30146283"/>
            <a:ext cx="9829800" cy="523200"/>
          </a:xfrm>
          <a:prstGeom prst="rect">
            <a:avLst/>
          </a:prstGeom>
          <a:solidFill>
            <a:schemeClr val="lt1">
              <a:alpha val="41176"/>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i="1">
                <a:solidFill>
                  <a:schemeClr val="dk1"/>
                </a:solidFill>
              </a:rPr>
              <a:t>First functional iteration based on a limited number of frames</a:t>
            </a:r>
            <a:endParaRPr sz="1400" b="0" i="0" u="none" strike="noStrike" cap="none">
              <a:solidFill>
                <a:srgbClr val="000000"/>
              </a:solidFill>
              <a:latin typeface="Arial"/>
              <a:ea typeface="Arial"/>
              <a:cs typeface="Arial"/>
              <a:sym typeface="Arial"/>
            </a:endParaRPr>
          </a:p>
        </p:txBody>
      </p:sp>
      <p:sp>
        <p:nvSpPr>
          <p:cNvPr id="62" name="Google Shape;62;p1"/>
          <p:cNvSpPr txBox="1"/>
          <p:nvPr/>
        </p:nvSpPr>
        <p:spPr>
          <a:xfrm>
            <a:off x="11629553" y="19491095"/>
            <a:ext cx="9829800" cy="1173000"/>
          </a:xfrm>
          <a:prstGeom prst="rect">
            <a:avLst/>
          </a:prstGeom>
          <a:solidFill>
            <a:schemeClr val="lt1">
              <a:alpha val="41568"/>
            </a:schemeClr>
          </a:solid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None/>
            </a:pPr>
            <a:r>
              <a:rPr lang="en-US" sz="2800" i="1"/>
              <a:t>Live reconstruction of our 2D model at frame 30/320</a:t>
            </a:r>
            <a:endParaRPr sz="2800" i="1"/>
          </a:p>
          <a:p>
            <a:pPr marL="0" marR="0" lvl="0" indent="0" algn="ctr" rtl="0">
              <a:lnSpc>
                <a:spcPct val="100000"/>
              </a:lnSpc>
              <a:spcBef>
                <a:spcPts val="1200"/>
              </a:spcBef>
              <a:spcAft>
                <a:spcPts val="0"/>
              </a:spcAft>
              <a:buClr>
                <a:srgbClr val="000000"/>
              </a:buClr>
              <a:buSzPts val="2800"/>
              <a:buFont typeface="Arial"/>
              <a:buNone/>
            </a:pPr>
            <a:endParaRPr sz="2800" i="1"/>
          </a:p>
        </p:txBody>
      </p:sp>
      <p:sp>
        <p:nvSpPr>
          <p:cNvPr id="63" name="Google Shape;63;p1"/>
          <p:cNvSpPr txBox="1"/>
          <p:nvPr/>
        </p:nvSpPr>
        <p:spPr>
          <a:xfrm>
            <a:off x="11915238" y="20082221"/>
            <a:ext cx="9388200" cy="7409552"/>
          </a:xfrm>
          <a:prstGeom prst="rect">
            <a:avLst/>
          </a:prstGeom>
          <a:solidFill>
            <a:schemeClr val="lt1">
              <a:alpha val="41176"/>
            </a:schemeClr>
          </a:solidFill>
          <a:ln>
            <a:noFill/>
          </a:ln>
        </p:spPr>
        <p:txBody>
          <a:bodyPr spcFirstLastPara="1" wrap="square" lIns="91425" tIns="45700" rIns="91425" bIns="45700" anchor="t" anchorCtr="0">
            <a:spAutoFit/>
          </a:bodyPr>
          <a:lstStyle/>
          <a:p>
            <a:pPr marL="0" marR="0" lvl="0" indent="0" algn="l" rtl="0">
              <a:lnSpc>
                <a:spcPct val="164285"/>
              </a:lnSpc>
              <a:spcBef>
                <a:spcPts val="0"/>
              </a:spcBef>
              <a:spcAft>
                <a:spcPts val="0"/>
              </a:spcAft>
              <a:buClr>
                <a:srgbClr val="000000"/>
              </a:buClr>
              <a:buSzPts val="2800"/>
              <a:buFont typeface="Arial"/>
              <a:buNone/>
            </a:pPr>
            <a:r>
              <a:rPr lang="en-US" sz="4800" b="1" u="sng">
                <a:solidFill>
                  <a:schemeClr val="bg2"/>
                </a:solidFill>
              </a:rPr>
              <a:t>Functional Structure</a:t>
            </a:r>
          </a:p>
          <a:p>
            <a:pPr marL="457200" indent="-400050">
              <a:lnSpc>
                <a:spcPct val="115000"/>
              </a:lnSpc>
              <a:spcBef>
                <a:spcPts val="1200"/>
              </a:spcBef>
              <a:buSzPts val="2700"/>
              <a:buChar char="●"/>
            </a:pPr>
            <a:r>
              <a:rPr lang="en-US" sz="2800">
                <a:solidFill>
                  <a:schemeClr val="tx1"/>
                </a:solidFill>
              </a:rPr>
              <a:t>Streaming Client → Depth Mapper → SLAM Engine → Visualization UI</a:t>
            </a:r>
          </a:p>
          <a:p>
            <a:pPr marL="457200" lvl="0" indent="-400050" algn="l" rtl="0">
              <a:lnSpc>
                <a:spcPct val="115000"/>
              </a:lnSpc>
              <a:spcBef>
                <a:spcPts val="0"/>
              </a:spcBef>
              <a:spcAft>
                <a:spcPts val="0"/>
              </a:spcAft>
              <a:buSzPts val="2700"/>
              <a:buChar char="●"/>
            </a:pPr>
            <a:r>
              <a:rPr lang="en-US" sz="2800">
                <a:solidFill>
                  <a:schemeClr val="tx1"/>
                </a:solidFill>
              </a:rPr>
              <a:t>Modular architecture allowing independent updates to each component.</a:t>
            </a:r>
          </a:p>
          <a:p>
            <a:pPr marL="457200" lvl="0" indent="-400050" algn="l" rtl="0">
              <a:lnSpc>
                <a:spcPct val="115000"/>
              </a:lnSpc>
              <a:spcBef>
                <a:spcPts val="0"/>
              </a:spcBef>
              <a:spcAft>
                <a:spcPts val="0"/>
              </a:spcAft>
              <a:buSzPts val="2700"/>
              <a:buChar char="●"/>
            </a:pPr>
            <a:r>
              <a:rPr lang="en-US" sz="2800">
                <a:solidFill>
                  <a:schemeClr val="tx1"/>
                </a:solidFill>
              </a:rPr>
              <a:t>SLAM model utilizes gaussian splatting to create a real-time and dense 3D reconstruction of the environment. It shows surfaces as 3D Gaussians and this is what makes the SLAM so accurate and precise at recreation.</a:t>
            </a:r>
          </a:p>
          <a:p>
            <a:pPr marL="0" lvl="0" indent="0" algn="l" rtl="0">
              <a:lnSpc>
                <a:spcPct val="115000"/>
              </a:lnSpc>
              <a:spcBef>
                <a:spcPts val="1200"/>
              </a:spcBef>
              <a:spcAft>
                <a:spcPts val="0"/>
              </a:spcAft>
              <a:buNone/>
            </a:pPr>
            <a:endParaRPr sz="2700">
              <a:solidFill>
                <a:schemeClr val="tx1"/>
              </a:solidFill>
            </a:endParaRPr>
          </a:p>
          <a:p>
            <a:pPr marL="0" marR="0" lvl="0" indent="0" algn="l" rtl="0">
              <a:lnSpc>
                <a:spcPct val="164285"/>
              </a:lnSpc>
              <a:spcBef>
                <a:spcPts val="1200"/>
              </a:spcBef>
              <a:spcAft>
                <a:spcPts val="0"/>
              </a:spcAft>
              <a:buClr>
                <a:srgbClr val="000000"/>
              </a:buClr>
              <a:buSzPts val="2800"/>
              <a:buFont typeface="Arial"/>
              <a:buNone/>
            </a:pPr>
            <a:r>
              <a:rPr lang="en-US" sz="2800" b="0" i="0" u="none" strike="noStrike" cap="none">
                <a:solidFill>
                  <a:schemeClr val="tx1"/>
                </a:solidFill>
                <a:latin typeface="Arial"/>
                <a:ea typeface="Arial"/>
                <a:cs typeface="Arial"/>
                <a:sym typeface="Arial"/>
              </a:rPr>
              <a:t> </a:t>
            </a:r>
            <a:endParaRPr sz="1400" b="0" i="0" u="none" strike="noStrike" cap="none">
              <a:solidFill>
                <a:schemeClr val="tx1"/>
              </a:solidFill>
              <a:latin typeface="Arial"/>
              <a:ea typeface="Arial"/>
              <a:cs typeface="Arial"/>
            </a:endParaRPr>
          </a:p>
        </p:txBody>
      </p:sp>
      <p:pic>
        <p:nvPicPr>
          <p:cNvPr id="64" name="Google Shape;64;p1"/>
          <p:cNvPicPr preferRelativeResize="0"/>
          <p:nvPr/>
        </p:nvPicPr>
        <p:blipFill>
          <a:blip r:embed="rId6">
            <a:alphaModFix/>
          </a:blip>
          <a:stretch>
            <a:fillRect/>
          </a:stretch>
        </p:blipFill>
        <p:spPr>
          <a:xfrm>
            <a:off x="24553800" y="7745167"/>
            <a:ext cx="5134650" cy="5134650"/>
          </a:xfrm>
          <a:prstGeom prst="rect">
            <a:avLst/>
          </a:prstGeom>
          <a:noFill/>
          <a:ln>
            <a:noFill/>
          </a:ln>
        </p:spPr>
      </p:pic>
      <p:pic>
        <p:nvPicPr>
          <p:cNvPr id="65" name="Google Shape;65;p1"/>
          <p:cNvPicPr preferRelativeResize="0"/>
          <p:nvPr/>
        </p:nvPicPr>
        <p:blipFill>
          <a:blip r:embed="rId7">
            <a:alphaModFix/>
          </a:blip>
          <a:stretch>
            <a:fillRect/>
          </a:stretch>
        </p:blipFill>
        <p:spPr>
          <a:xfrm>
            <a:off x="23113900" y="14305551"/>
            <a:ext cx="3814800" cy="3814800"/>
          </a:xfrm>
          <a:prstGeom prst="rect">
            <a:avLst/>
          </a:prstGeom>
          <a:noFill/>
          <a:ln>
            <a:noFill/>
          </a:ln>
        </p:spPr>
      </p:pic>
      <p:pic>
        <p:nvPicPr>
          <p:cNvPr id="66" name="Google Shape;66;p1"/>
          <p:cNvPicPr preferRelativeResize="0"/>
          <p:nvPr/>
        </p:nvPicPr>
        <p:blipFill>
          <a:blip r:embed="rId8">
            <a:alphaModFix/>
          </a:blip>
          <a:stretch>
            <a:fillRect/>
          </a:stretch>
        </p:blipFill>
        <p:spPr>
          <a:xfrm>
            <a:off x="28474525" y="14475850"/>
            <a:ext cx="3814776" cy="3423699"/>
          </a:xfrm>
          <a:prstGeom prst="rect">
            <a:avLst/>
          </a:prstGeom>
          <a:noFill/>
          <a:ln>
            <a:noFill/>
          </a:ln>
        </p:spPr>
      </p:pic>
      <p:sp>
        <p:nvSpPr>
          <p:cNvPr id="67" name="Google Shape;67;p1"/>
          <p:cNvSpPr txBox="1"/>
          <p:nvPr/>
        </p:nvSpPr>
        <p:spPr>
          <a:xfrm>
            <a:off x="28045813" y="18641938"/>
            <a:ext cx="4672200" cy="523200"/>
          </a:xfrm>
          <a:prstGeom prst="rect">
            <a:avLst/>
          </a:prstGeom>
          <a:solidFill>
            <a:schemeClr val="lt1">
              <a:alpha val="41180"/>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i="1">
                <a:solidFill>
                  <a:schemeClr val="dk1"/>
                </a:solidFill>
              </a:rPr>
              <a:t>Depth L1 Render</a:t>
            </a:r>
            <a:endParaRPr sz="1400" b="0" i="0" u="none" strike="noStrike" cap="none">
              <a:solidFill>
                <a:srgbClr val="000000"/>
              </a:solidFill>
              <a:latin typeface="Arial"/>
              <a:ea typeface="Arial"/>
              <a:cs typeface="Arial"/>
              <a:sym typeface="Arial"/>
            </a:endParaRPr>
          </a:p>
        </p:txBody>
      </p:sp>
      <p:pic>
        <p:nvPicPr>
          <p:cNvPr id="68" name="Google Shape;68;p1"/>
          <p:cNvPicPr preferRelativeResize="0"/>
          <p:nvPr/>
        </p:nvPicPr>
        <p:blipFill>
          <a:blip r:embed="rId9">
            <a:alphaModFix/>
          </a:blip>
          <a:stretch>
            <a:fillRect/>
          </a:stretch>
        </p:blipFill>
        <p:spPr>
          <a:xfrm>
            <a:off x="33399606" y="6148630"/>
            <a:ext cx="9099852" cy="4048611"/>
          </a:xfrm>
          <a:prstGeom prst="rect">
            <a:avLst/>
          </a:prstGeom>
          <a:noFill/>
          <a:ln>
            <a:noFill/>
          </a:ln>
        </p:spPr>
      </p:pic>
      <p:sp>
        <p:nvSpPr>
          <p:cNvPr id="69" name="Google Shape;69;p1"/>
          <p:cNvSpPr txBox="1"/>
          <p:nvPr/>
        </p:nvSpPr>
        <p:spPr>
          <a:xfrm>
            <a:off x="22727238" y="19734737"/>
            <a:ext cx="9421200" cy="3625632"/>
          </a:xfrm>
          <a:prstGeom prst="rect">
            <a:avLst/>
          </a:prstGeom>
          <a:solidFill>
            <a:schemeClr val="lt1">
              <a:alpha val="61960"/>
            </a:schemeClr>
          </a:solidFill>
          <a:ln>
            <a:noFill/>
          </a:ln>
        </p:spPr>
        <p:txBody>
          <a:bodyPr spcFirstLastPara="1" wrap="square" lIns="91425" tIns="45700" rIns="91425" bIns="45700" anchor="t" anchorCtr="0">
            <a:spAutoFit/>
          </a:bodyPr>
          <a:lstStyle/>
          <a:p>
            <a:pPr marL="0" marR="0" lvl="0" indent="0" algn="l" rtl="0">
              <a:lnSpc>
                <a:spcPct val="164285"/>
              </a:lnSpc>
              <a:spcBef>
                <a:spcPts val="0"/>
              </a:spcBef>
              <a:spcAft>
                <a:spcPts val="0"/>
              </a:spcAft>
              <a:buClr>
                <a:srgbClr val="000000"/>
              </a:buClr>
              <a:buSzPts val="2800"/>
              <a:buFont typeface="Arial"/>
              <a:buNone/>
            </a:pPr>
            <a:r>
              <a:rPr lang="en-US" sz="2800">
                <a:solidFill>
                  <a:schemeClr val="tx1"/>
                </a:solidFill>
              </a:rPr>
              <a:t>The three graphs above evaluate the quality of rendering using metrics such as PSNR, SSIM, and Depth L1 error. Higher PSNR and SSIM values show how close the rendered image is to the original one while Depth L1 shows how accurate the depth reconstruction is.</a:t>
            </a:r>
            <a:endParaRPr lang="en-US" sz="1400" b="0" i="0" u="none" strike="noStrike" cap="none">
              <a:solidFill>
                <a:schemeClr val="tx1"/>
              </a:solidFill>
              <a:latin typeface="Arial"/>
              <a:ea typeface="Arial"/>
              <a:cs typeface="Arial"/>
            </a:endParaRPr>
          </a:p>
        </p:txBody>
      </p:sp>
      <p:pic>
        <p:nvPicPr>
          <p:cNvPr id="70" name="Google Shape;70;p1"/>
          <p:cNvPicPr preferRelativeResize="0"/>
          <p:nvPr/>
        </p:nvPicPr>
        <p:blipFill>
          <a:blip r:embed="rId10">
            <a:alphaModFix/>
          </a:blip>
          <a:stretch>
            <a:fillRect/>
          </a:stretch>
        </p:blipFill>
        <p:spPr>
          <a:xfrm>
            <a:off x="12886256" y="12956850"/>
            <a:ext cx="7217044" cy="6461700"/>
          </a:xfrm>
          <a:prstGeom prst="rect">
            <a:avLst/>
          </a:prstGeom>
          <a:noFill/>
          <a:ln>
            <a:noFill/>
          </a:ln>
        </p:spPr>
      </p:pic>
      <p:pic>
        <p:nvPicPr>
          <p:cNvPr id="71" name="Google Shape;71;p1"/>
          <p:cNvPicPr preferRelativeResize="0"/>
          <p:nvPr/>
        </p:nvPicPr>
        <p:blipFill>
          <a:blip r:embed="rId11">
            <a:alphaModFix/>
          </a:blip>
          <a:stretch>
            <a:fillRect/>
          </a:stretch>
        </p:blipFill>
        <p:spPr>
          <a:xfrm>
            <a:off x="1797268" y="23911107"/>
            <a:ext cx="7249721" cy="5687275"/>
          </a:xfrm>
          <a:prstGeom prst="rect">
            <a:avLst/>
          </a:prstGeom>
          <a:solidFill>
            <a:srgbClr val="D8D8D8"/>
          </a:solidFill>
          <a:ln>
            <a:noFill/>
          </a:ln>
        </p:spPr>
      </p:pic>
      <p:pic>
        <p:nvPicPr>
          <p:cNvPr id="72" name="Google Shape;72;p1"/>
          <p:cNvPicPr preferRelativeResize="0"/>
          <p:nvPr/>
        </p:nvPicPr>
        <p:blipFill>
          <a:blip r:embed="rId12">
            <a:alphaModFix/>
          </a:blip>
          <a:stretch>
            <a:fillRect/>
          </a:stretch>
        </p:blipFill>
        <p:spPr>
          <a:xfrm>
            <a:off x="11592400" y="25943601"/>
            <a:ext cx="10018601" cy="4669075"/>
          </a:xfrm>
          <a:prstGeom prst="rect">
            <a:avLst/>
          </a:prstGeom>
          <a:noFill/>
          <a:ln>
            <a:noFill/>
          </a:ln>
        </p:spPr>
      </p:pic>
    </p:spTree>
  </p:cSld>
  <p:clrMapOvr>
    <a:masterClrMapping/>
  </p:clrMapOvr>
</p:sld>
</file>

<file path=ppt/theme/theme1.xml><?xml version="1.0" encoding="utf-8"?>
<a:theme xmlns:a="http://schemas.openxmlformats.org/drawingml/2006/main"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7A72B07CD59948947EFB920265EF2D" ma:contentTypeVersion="11" ma:contentTypeDescription="Create a new document." ma:contentTypeScope="" ma:versionID="b1d768024ad864d6f437b436a3c722b6">
  <xsd:schema xmlns:xsd="http://www.w3.org/2001/XMLSchema" xmlns:xs="http://www.w3.org/2001/XMLSchema" xmlns:p="http://schemas.microsoft.com/office/2006/metadata/properties" xmlns:ns2="3a8d538e-1895-45ef-ae9c-359cd9f58204" targetNamespace="http://schemas.microsoft.com/office/2006/metadata/properties" ma:root="true" ma:fieldsID="01e9754f587b2b9676802de3bc555bab" ns2:_="">
    <xsd:import namespace="3a8d538e-1895-45ef-ae9c-359cd9f5820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8d538e-1895-45ef-ae9c-359cd9f582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28e5b72-a11e-43e4-996b-2cb2b326d1f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a8d538e-1895-45ef-ae9c-359cd9f5820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1355501-5DF5-4C7A-8224-75F1E21D2E4F}">
  <ds:schemaRefs>
    <ds:schemaRef ds:uri="3a8d538e-1895-45ef-ae9c-359cd9f582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162FFE3-9EC6-4F66-97DA-90496E5F384F}">
  <ds:schemaRefs>
    <ds:schemaRef ds:uri="http://schemas.microsoft.com/sharepoint/v3/contenttype/forms"/>
  </ds:schemaRefs>
</ds:datastoreItem>
</file>

<file path=customXml/itemProps3.xml><?xml version="1.0" encoding="utf-8"?>
<ds:datastoreItem xmlns:ds="http://schemas.openxmlformats.org/officeDocument/2006/customXml" ds:itemID="{DFF35CD0-FD4D-40E4-B326-B1824D8CA17C}">
  <ds:schemaRefs>
    <ds:schemaRef ds:uri="3a8d538e-1895-45ef-ae9c-359cd9f58204"/>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Research Poster Template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cp:revision>
  <dcterms:modified xsi:type="dcterms:W3CDTF">2025-04-10T22:29:13Z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0x010100D37A72B07CD59948947EFB920265EF2D</vt:lpwstr>
  </property>
  <property fmtid="{D5CDD505-2E9C-101B-9397-08002B2CF9AE}" pid="3" name="MediaServiceImageTags">
    <vt:lpwstr/>
  </property>
</Properties>
</file>